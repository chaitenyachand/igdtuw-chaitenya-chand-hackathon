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mbria Bold" charset="1" panose="02040803050406030204"/>
      <p:regular r:id="rId17"/>
    </p:embeddedFont>
    <p:embeddedFont>
      <p:font typeface="Cambria Bold Italics" charset="1" panose="020408030504060A0204"/>
      <p:regular r:id="rId18"/>
    </p:embeddedFont>
    <p:embeddedFont>
      <p:font typeface="Calibri (MS)" charset="1" panose="020F0502020204030204"/>
      <p:regular r:id="rId19"/>
    </p:embeddedFont>
    <p:embeddedFont>
      <p:font typeface="Calibri (MS) Italics" charset="1" panose="020F05020202040A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Opening (30 s): SENTINEL is a risk-intelligence terminal that remembers. It reads public headlines, finds the closest past events, quantifies what that would do to a portfolio, and records every action in a tamper-evident ledger. Everything you will see runs on public or synthetic data, in an app I built end to end. Screenshots are real captures from the running system on seeded demo data.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Problem (60 s): three gaps. One, noise: in my hand-labelled held-out set only 29 of 150 headlines were risk-relevant, so analysts triage five items for every one that matters. Two, alerts have no memory: sentiment tools describe today's headline but not what happened the last time. Three, insight stops at the dashboard: nothing connects an event to portfolio loss, to a rule, and to an auditable decision. Approach: four verbs in one loop. Detect, Remember, Quantify, Act. The strip at the bottom compares a typical workflow with SENTINEL. The 58.5 vs 15 percent turnover figure is from a backfill on synthetic demo data.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Architecture (75 s). Read left to right. One: public sources only, GDELT, SEC 8-Ks, social, Yahoo and FRED market data. Two: the NLP chain, ingest and dedupe, relevance gate, event classifier, FinBERT sentiment, integrity score. Three: each scored signal is persisted to PostgreSQL and announced on a Redis stream. Four: five engines, PRECEDENT, the 8-K impact model, the Global Risk Index, Stress Lab and the Adaptive Index, read and write state through that platform; the audit ledger is a SHA-256 hash chain with an append-only trigger. Five: FastAPI serves REST and a WebSocket. Six: the React terminal renders nine views. Every row carries a provenance tag: live, replay, backfill or synthetic, and analogs are point-in-time so there is no look-ahead.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Implementation (90 s). Top left, the NLP pipeline: a relevance gate that blends MiniLM embeddings with rule features, an eight-class event classifier where rules keep the final say, zero-shot FinBERT sentiment, and an integrity score from corroboration and source trust. Top right, PRECEDENT: cosine search over the event library using only events before the signal time, forward paths for SPY and sector returns over 20 days, a low-n shrinkage weight n over n plus 5 with a warning flag, then a percentile mapped to a 1 to 10 impact and a calibrated shock vector. The fan chart is a schematic. Bottom left, Stress Lab: scenario or manual shocks go into full revaluation of equities, bonds and loans and derivatives, producing VaR and expected shortfall, Shapley attribution, reverse stress with a gradient-based worst-shock solver, and trigger rules. Bottom right, the Adaptive Index tilts weights as benchmark times exp of kappa z, applies a 15 percent cap and 2 percent floor, a deadband and a 5 percent turnover limit, then either auto-applies or waits for PM approval. Every action is appended to a SHA-256 hash chain.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Results (90 s). Left, four real screenshots of the running app: PRECEDENT with its analog fan chart and calibrated shock vector; Stress Lab running the Crimea 2014 scenario on the synthetic 10.5 billion dollar book, a loss of about 44 million dollars; the Adaptive Index with weights and turnover; and the Signals view with a drawer showing integrity, analogs and book impact. Right, the metrics. On the held-out set of 150 headlines, the learned relevance gate has AUC 0.78 against 0.56 for rules-only; sentiment accuracy is 55 percent against 41 percent for always predicting the majority class. Index turnover over a 30-day backfill is 15 percent against 58.5 percent for a naive rebalance, on synthetic prices. A full stress run on 109 holdings takes about 0.2 seconds in my sandbox. I want to be upfront that the held-out set is small, 29 relevant items, so the F1 confidence interval is wide, 0.22 to 0.54. The impact model, trained on 5,825 8-K events, improves MAE from 0.0195 to 0.0187.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Domain impact (60 s). Three users. A credit or ratings surveillance analyst gets relevance-gated, ranked signals with historical analogs and an integrity score, so watchlist calls are earlier and evidence-backed. An index or portfolio manager gets signal-tilted weights inside caps and optional approval; in the demo backfill that cut turnover from 58.5 to 15 percent. A risk and compliance officer gets stress runs with attribution and an audit chain that verifies 362 entries in about 17 milliseconds. On the right is where it plugs in: surveillance, index methodology, counterparty exposure and audit. This is an illustrative mapping of capabilities to workflows, not a statement about S&amp;P Global or Crisil internal systems.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Limitations and next steps (45 s). I would rather you hear the limits from me. The gold-label set is small, so confidence intervals are wide. The learned event classifier currently trails the rules, macro-F1 0.32 against 0.47, which is why rule overrides remain. The impact model gives a modest lift. The wholesale portfolio is synthetic and the rating-migration matrix is an illustrative assumption. Live Yahoo, FRED, SEC and GDELT paths are written but I could not exercise them in my build sandbox, so the demo uses replay and synthetic data. Next ninety days: grow labels to a thousand and calibrate; verify live feeds and put drift alerts on; bring in real transition data and an SLSQP solver; then a grounded LLM narrative with a citation guard. AI disclosure: this project was built with AI assistance; data choices, validation and every claim here are mine to defend.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8.pn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3.jpe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3.jpe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3.jpe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Relationship Id="rId8" Target="../media/image20.jpe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3.jpe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-586174"/>
            <a:ext cx="13383007" cy="13383007"/>
          </a:xfrm>
          <a:custGeom>
            <a:avLst/>
            <a:gdLst/>
            <a:ahLst/>
            <a:cxnLst/>
            <a:rect r="r" b="b" t="t" l="l"/>
            <a:pathLst>
              <a:path h="13383007" w="13383007">
                <a:moveTo>
                  <a:pt x="0" y="0"/>
                </a:moveTo>
                <a:lnTo>
                  <a:pt x="13383007" y="0"/>
                </a:lnTo>
                <a:lnTo>
                  <a:pt x="13383007" y="13383007"/>
                </a:lnTo>
                <a:lnTo>
                  <a:pt x="0" y="133830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0120" y="850392"/>
            <a:ext cx="7955280" cy="411480"/>
            <a:chOff x="0" y="0"/>
            <a:chExt cx="1060704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07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0607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S&amp;P GLOBAL &amp; CRISIL CAMPUS HACKATHON 2026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0120" y="1440180"/>
            <a:ext cx="8092440" cy="1783080"/>
            <a:chOff x="0" y="0"/>
            <a:chExt cx="1078992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899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432" r="0" b="-384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78992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40"/>
                </a:lnSpc>
              </a:pPr>
              <a:r>
                <a:rPr lang="en-US" b="true" sz="11700">
                  <a:solidFill>
                    <a:srgbClr val="1B223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SENTINEL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2138727"/>
            <a:ext cx="7955280" cy="3081449"/>
            <a:chOff x="0" y="0"/>
            <a:chExt cx="10607040" cy="41085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7040" cy="4108599"/>
            </a:xfrm>
            <a:custGeom>
              <a:avLst/>
              <a:gdLst/>
              <a:ahLst/>
              <a:cxnLst/>
              <a:rect r="r" b="b" t="t" l="l"/>
              <a:pathLst>
                <a:path h="4108599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108599"/>
                  </a:lnTo>
                  <a:lnTo>
                    <a:pt x="0" y="41085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950" r="0" b="3634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607040" cy="4118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i="true">
                  <a:solidFill>
                    <a:srgbClr val="C8102E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Risk</a:t>
              </a:r>
              <a:r>
                <a:rPr lang="en-US" b="true" sz="4200" i="true">
                  <a:solidFill>
                    <a:srgbClr val="C8102E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 intelligence with a memory.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60120" y="4248626"/>
            <a:ext cx="75438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0B1020"/>
                </a:solidFill>
                <a:latin typeface="Calibri (MS)"/>
                <a:ea typeface="Calibri (MS)"/>
                <a:cs typeface="Calibri (MS)"/>
                <a:sym typeface="Calibri (MS)"/>
              </a:rPr>
              <a:t>Turns breaking financial headlines into quantified, auditable portfolio actions, by remembering what happened the last time.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976" y="6096476"/>
            <a:ext cx="2346008" cy="1358456"/>
            <a:chOff x="0" y="0"/>
            <a:chExt cx="3128010" cy="18112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28010" cy="1811274"/>
            </a:xfrm>
            <a:custGeom>
              <a:avLst/>
              <a:gdLst/>
              <a:ahLst/>
              <a:cxnLst/>
              <a:rect r="r" b="b" t="t" l="l"/>
              <a:pathLst>
                <a:path h="1811274" w="31280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2980182" y="0"/>
                  </a:lnTo>
                  <a:cubicBezTo>
                    <a:pt x="3061843" y="0"/>
                    <a:pt x="3128010" y="66167"/>
                    <a:pt x="3128010" y="147828"/>
                  </a:cubicBezTo>
                  <a:lnTo>
                    <a:pt x="3128010" y="1663446"/>
                  </a:lnTo>
                  <a:cubicBezTo>
                    <a:pt x="3128010" y="1745107"/>
                    <a:pt x="3061843" y="1811274"/>
                    <a:pt x="2980182" y="1811274"/>
                  </a:cubicBezTo>
                  <a:lnTo>
                    <a:pt x="147828" y="1811274"/>
                  </a:lnTo>
                  <a:cubicBezTo>
                    <a:pt x="66167" y="1811274"/>
                    <a:pt x="0" y="1745107"/>
                    <a:pt x="0" y="1663446"/>
                  </a:cubicBezTo>
                  <a:close/>
                </a:path>
              </a:pathLst>
            </a:custGeom>
            <a:solidFill>
              <a:srgbClr val="151B30"/>
            </a:solidFill>
            <a:ln w="14288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24712" y="6172200"/>
            <a:ext cx="2002536" cy="685800"/>
            <a:chOff x="0" y="0"/>
            <a:chExt cx="2670048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70048" cy="914400"/>
            </a:xfrm>
            <a:custGeom>
              <a:avLst/>
              <a:gdLst/>
              <a:ahLst/>
              <a:cxnLst/>
              <a:rect r="r" b="b" t="t" l="l"/>
              <a:pathLst>
                <a:path h="91440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96" r="0" b="-689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670048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139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24712" y="6838950"/>
            <a:ext cx="205740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AEB5C6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tests pass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449288" y="6096476"/>
            <a:ext cx="2346008" cy="1358456"/>
            <a:chOff x="0" y="0"/>
            <a:chExt cx="3128010" cy="18112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28010" cy="1811274"/>
            </a:xfrm>
            <a:custGeom>
              <a:avLst/>
              <a:gdLst/>
              <a:ahLst/>
              <a:cxnLst/>
              <a:rect r="r" b="b" t="t" l="l"/>
              <a:pathLst>
                <a:path h="1811274" w="31280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2980182" y="0"/>
                  </a:lnTo>
                  <a:cubicBezTo>
                    <a:pt x="3061843" y="0"/>
                    <a:pt x="3128010" y="66167"/>
                    <a:pt x="3128010" y="147828"/>
                  </a:cubicBezTo>
                  <a:lnTo>
                    <a:pt x="3128010" y="1663446"/>
                  </a:lnTo>
                  <a:cubicBezTo>
                    <a:pt x="3128010" y="1745107"/>
                    <a:pt x="3061843" y="1811274"/>
                    <a:pt x="2980182" y="1811274"/>
                  </a:cubicBezTo>
                  <a:lnTo>
                    <a:pt x="147828" y="1811274"/>
                  </a:lnTo>
                  <a:cubicBezTo>
                    <a:pt x="66167" y="1811274"/>
                    <a:pt x="0" y="1745107"/>
                    <a:pt x="0" y="1663446"/>
                  </a:cubicBezTo>
                  <a:close/>
                </a:path>
              </a:pathLst>
            </a:custGeom>
            <a:solidFill>
              <a:srgbClr val="151B30"/>
            </a:solidFill>
            <a:ln w="14288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621024" y="6172200"/>
            <a:ext cx="2002536" cy="685800"/>
            <a:chOff x="0" y="0"/>
            <a:chExt cx="2670048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70048" cy="914400"/>
            </a:xfrm>
            <a:custGeom>
              <a:avLst/>
              <a:gdLst/>
              <a:ahLst/>
              <a:cxnLst/>
              <a:rect r="r" b="b" t="t" l="l"/>
              <a:pathLst>
                <a:path h="91440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96" r="0" b="-689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670048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621024" y="6838950"/>
            <a:ext cx="205740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AEB5C6"/>
                </a:solidFill>
                <a:latin typeface="Calibri (MS)"/>
                <a:ea typeface="Calibri (MS)"/>
                <a:cs typeface="Calibri (MS)"/>
                <a:sym typeface="Calibri (MS)"/>
              </a:rPr>
              <a:t>live terminal views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945600" y="6096476"/>
            <a:ext cx="2346008" cy="1358456"/>
            <a:chOff x="0" y="0"/>
            <a:chExt cx="3128010" cy="18112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28010" cy="1811274"/>
            </a:xfrm>
            <a:custGeom>
              <a:avLst/>
              <a:gdLst/>
              <a:ahLst/>
              <a:cxnLst/>
              <a:rect r="r" b="b" t="t" l="l"/>
              <a:pathLst>
                <a:path h="1811274" w="31280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2980182" y="0"/>
                  </a:lnTo>
                  <a:cubicBezTo>
                    <a:pt x="3061843" y="0"/>
                    <a:pt x="3128010" y="66167"/>
                    <a:pt x="3128010" y="147828"/>
                  </a:cubicBezTo>
                  <a:lnTo>
                    <a:pt x="3128010" y="1663446"/>
                  </a:lnTo>
                  <a:cubicBezTo>
                    <a:pt x="3128010" y="1745107"/>
                    <a:pt x="3061843" y="1811274"/>
                    <a:pt x="2980182" y="1811274"/>
                  </a:cubicBezTo>
                  <a:lnTo>
                    <a:pt x="147828" y="1811274"/>
                  </a:lnTo>
                  <a:cubicBezTo>
                    <a:pt x="66167" y="1811274"/>
                    <a:pt x="0" y="1745107"/>
                    <a:pt x="0" y="1663446"/>
                  </a:cubicBezTo>
                  <a:close/>
                </a:path>
              </a:pathLst>
            </a:custGeom>
            <a:solidFill>
              <a:srgbClr val="151B30"/>
            </a:solidFill>
            <a:ln w="14288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117336" y="6172200"/>
            <a:ext cx="2002536" cy="685800"/>
            <a:chOff x="0" y="0"/>
            <a:chExt cx="2670048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70048" cy="914400"/>
            </a:xfrm>
            <a:custGeom>
              <a:avLst/>
              <a:gdLst/>
              <a:ahLst/>
              <a:cxnLst/>
              <a:rect r="r" b="b" t="t" l="l"/>
              <a:pathLst>
                <a:path h="91440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96" r="0" b="-689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670048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100%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117336" y="6838950"/>
            <a:ext cx="205740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AEB5C6"/>
                </a:solidFill>
                <a:latin typeface="Calibri (MS)"/>
                <a:ea typeface="Calibri (MS)"/>
                <a:cs typeface="Calibri (MS)"/>
                <a:sym typeface="Calibri (MS)"/>
              </a:rPr>
              <a:t>public + synthetic data</a:t>
            </a:r>
          </a:p>
        </p:txBody>
      </p:sp>
      <p:sp>
        <p:nvSpPr>
          <p:cNvPr name="AutoShape 31" id="31"/>
          <p:cNvSpPr/>
          <p:nvPr/>
        </p:nvSpPr>
        <p:spPr>
          <a:xfrm rot="8640">
            <a:off x="950585" y="8019097"/>
            <a:ext cx="7562879" cy="0"/>
          </a:xfrm>
          <a:prstGeom prst="line">
            <a:avLst/>
          </a:prstGeom>
          <a:ln cap="rnd" w="9525">
            <a:solidFill>
              <a:srgbClr val="2A33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960120" y="8229600"/>
            <a:ext cx="7543800" cy="438912"/>
            <a:chOff x="0" y="0"/>
            <a:chExt cx="1005840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0584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Chaitenya Chand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" y="8695944"/>
            <a:ext cx="7955280" cy="342900"/>
            <a:chOff x="0" y="0"/>
            <a:chExt cx="10607040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070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60704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Indira Gandhi Delhi Technical University for Women (IGDTUW)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" y="9052560"/>
            <a:ext cx="7955280" cy="342900"/>
            <a:chOff x="0" y="0"/>
            <a:chExt cx="10607040" cy="45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07040" cy="457200"/>
            </a:xfrm>
            <a:custGeom>
              <a:avLst/>
              <a:gdLst/>
              <a:ahLst/>
              <a:cxnLst/>
              <a:rect r="r" b="b" t="t" l="l"/>
              <a:pathLst>
                <a:path h="4572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60704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chaitenya013mca25@igdtuw.ac.in  ·  Individual submission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76836" y="843248"/>
            <a:ext cx="8792528" cy="6255068"/>
            <a:chOff x="0" y="0"/>
            <a:chExt cx="11723370" cy="83400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723370" cy="8340090"/>
            </a:xfrm>
            <a:custGeom>
              <a:avLst/>
              <a:gdLst/>
              <a:ahLst/>
              <a:cxnLst/>
              <a:rect r="r" b="b" t="t" l="l"/>
              <a:pathLst>
                <a:path h="8340090" w="11723370">
                  <a:moveTo>
                    <a:pt x="0" y="183261"/>
                  </a:moveTo>
                  <a:cubicBezTo>
                    <a:pt x="0" y="82042"/>
                    <a:pt x="82042" y="0"/>
                    <a:pt x="183261" y="0"/>
                  </a:cubicBezTo>
                  <a:lnTo>
                    <a:pt x="11540109" y="0"/>
                  </a:lnTo>
                  <a:cubicBezTo>
                    <a:pt x="11641327" y="0"/>
                    <a:pt x="11723370" y="82042"/>
                    <a:pt x="11723370" y="183261"/>
                  </a:cubicBezTo>
                  <a:lnTo>
                    <a:pt x="11723370" y="8156829"/>
                  </a:lnTo>
                  <a:cubicBezTo>
                    <a:pt x="11723370" y="8258048"/>
                    <a:pt x="11641327" y="8340090"/>
                    <a:pt x="11540109" y="8340090"/>
                  </a:cubicBezTo>
                  <a:lnTo>
                    <a:pt x="183261" y="8340090"/>
                  </a:lnTo>
                  <a:cubicBezTo>
                    <a:pt x="82042" y="8340090"/>
                    <a:pt x="0" y="8258048"/>
                    <a:pt x="0" y="8156829"/>
                  </a:cubicBezTo>
                  <a:close/>
                </a:path>
              </a:pathLst>
            </a:custGeom>
            <a:solidFill>
              <a:srgbClr val="1B2238"/>
            </a:solidFill>
            <a:ln w="14288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207627" y="1032891"/>
            <a:ext cx="183642" cy="183642"/>
            <a:chOff x="0" y="0"/>
            <a:chExt cx="244856" cy="2448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122428"/>
                  </a:moveTo>
                  <a:cubicBezTo>
                    <a:pt x="0" y="54864"/>
                    <a:pt x="54864" y="0"/>
                    <a:pt x="122428" y="0"/>
                  </a:cubicBezTo>
                  <a:cubicBezTo>
                    <a:pt x="189992" y="0"/>
                    <a:pt x="244856" y="54864"/>
                    <a:pt x="244856" y="122428"/>
                  </a:cubicBezTo>
                  <a:cubicBezTo>
                    <a:pt x="244856" y="189992"/>
                    <a:pt x="189992" y="244856"/>
                    <a:pt x="122428" y="244856"/>
                  </a:cubicBezTo>
                  <a:cubicBezTo>
                    <a:pt x="54864" y="244856"/>
                    <a:pt x="0" y="189992"/>
                    <a:pt x="0" y="122428"/>
                  </a:cubicBezTo>
                  <a:close/>
                </a:path>
              </a:pathLst>
            </a:custGeom>
            <a:solidFill>
              <a:srgbClr val="FF5F57"/>
            </a:solidFill>
            <a:ln w="19050" cap="sq">
              <a:solidFill>
                <a:srgbClr val="FF5F5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481947" y="1032891"/>
            <a:ext cx="183642" cy="183642"/>
            <a:chOff x="0" y="0"/>
            <a:chExt cx="244856" cy="2448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122428"/>
                  </a:moveTo>
                  <a:cubicBezTo>
                    <a:pt x="0" y="54864"/>
                    <a:pt x="54864" y="0"/>
                    <a:pt x="122428" y="0"/>
                  </a:cubicBezTo>
                  <a:cubicBezTo>
                    <a:pt x="189992" y="0"/>
                    <a:pt x="244856" y="54864"/>
                    <a:pt x="244856" y="122428"/>
                  </a:cubicBezTo>
                  <a:cubicBezTo>
                    <a:pt x="244856" y="189992"/>
                    <a:pt x="189992" y="244856"/>
                    <a:pt x="122428" y="244856"/>
                  </a:cubicBezTo>
                  <a:cubicBezTo>
                    <a:pt x="54864" y="244856"/>
                    <a:pt x="0" y="189992"/>
                    <a:pt x="0" y="122428"/>
                  </a:cubicBezTo>
                  <a:close/>
                </a:path>
              </a:pathLst>
            </a:custGeom>
            <a:solidFill>
              <a:srgbClr val="FEBC2E"/>
            </a:solidFill>
            <a:ln w="19050" cap="sq">
              <a:solidFill>
                <a:srgbClr val="FEBC2E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756267" y="1032891"/>
            <a:ext cx="183642" cy="183642"/>
            <a:chOff x="0" y="0"/>
            <a:chExt cx="244856" cy="2448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122428"/>
                  </a:moveTo>
                  <a:cubicBezTo>
                    <a:pt x="0" y="54864"/>
                    <a:pt x="54864" y="0"/>
                    <a:pt x="122428" y="0"/>
                  </a:cubicBezTo>
                  <a:cubicBezTo>
                    <a:pt x="189992" y="0"/>
                    <a:pt x="244856" y="54864"/>
                    <a:pt x="244856" y="122428"/>
                  </a:cubicBezTo>
                  <a:cubicBezTo>
                    <a:pt x="244856" y="189992"/>
                    <a:pt x="189992" y="244856"/>
                    <a:pt x="122428" y="244856"/>
                  </a:cubicBezTo>
                  <a:cubicBezTo>
                    <a:pt x="54864" y="244856"/>
                    <a:pt x="0" y="189992"/>
                    <a:pt x="0" y="122428"/>
                  </a:cubicBezTo>
                  <a:close/>
                </a:path>
              </a:pathLst>
            </a:custGeom>
            <a:solidFill>
              <a:srgbClr val="28C840"/>
            </a:solidFill>
            <a:ln w="19050" cap="sq">
              <a:solidFill>
                <a:srgbClr val="28C84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287000" y="973836"/>
            <a:ext cx="5486400" cy="301752"/>
            <a:chOff x="0" y="0"/>
            <a:chExt cx="7315200" cy="4023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31520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8A93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sentinel / overview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8572" y="1399032"/>
            <a:ext cx="8449056" cy="5280660"/>
            <a:chOff x="0" y="0"/>
            <a:chExt cx="11265408" cy="7040880"/>
          </a:xfrm>
        </p:grpSpPr>
        <p:sp>
          <p:nvSpPr>
            <p:cNvPr name="Freeform 53" id="53" descr="SENTINEL overview: global risk index gauge, live signal stream, event heatmap"/>
            <p:cNvSpPr/>
            <p:nvPr/>
          </p:nvSpPr>
          <p:spPr>
            <a:xfrm flipH="false" flipV="false" rot="0">
              <a:off x="0" y="0"/>
              <a:ext cx="11265408" cy="7040880"/>
            </a:xfrm>
            <a:custGeom>
              <a:avLst/>
              <a:gdLst/>
              <a:ahLst/>
              <a:cxnLst/>
              <a:rect r="r" b="b" t="t" l="l"/>
              <a:pathLst>
                <a:path h="7040880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983980" y="7406640"/>
            <a:ext cx="2811780" cy="1755648"/>
            <a:chOff x="0" y="0"/>
            <a:chExt cx="3749040" cy="2340864"/>
          </a:xfrm>
        </p:grpSpPr>
        <p:sp>
          <p:nvSpPr>
            <p:cNvPr name="Freeform 55" id="55" descr="PRECEDENT analogs"/>
            <p:cNvSpPr/>
            <p:nvPr/>
          </p:nvSpPr>
          <p:spPr>
            <a:xfrm flipH="false" flipV="false" rot="0">
              <a:off x="0" y="0"/>
              <a:ext cx="3749040" cy="2340864"/>
            </a:xfrm>
            <a:custGeom>
              <a:avLst/>
              <a:gdLst/>
              <a:ahLst/>
              <a:cxnLst/>
              <a:rect r="r" b="b" t="t" l="l"/>
              <a:pathLst>
                <a:path h="2340864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2340864"/>
                  </a:lnTo>
                  <a:lnTo>
                    <a:pt x="0" y="2340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8" r="0" b="-48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976836" y="7399496"/>
            <a:ext cx="2826067" cy="1769936"/>
            <a:chOff x="0" y="0"/>
            <a:chExt cx="3768090" cy="235991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68090" cy="2359914"/>
            </a:xfrm>
            <a:custGeom>
              <a:avLst/>
              <a:gdLst/>
              <a:ahLst/>
              <a:cxnLst/>
              <a:rect r="r" b="b" t="t" l="l"/>
              <a:pathLst>
                <a:path h="2359914" w="3768090">
                  <a:moveTo>
                    <a:pt x="0" y="0"/>
                  </a:moveTo>
                  <a:lnTo>
                    <a:pt x="3768090" y="0"/>
                  </a:lnTo>
                  <a:lnTo>
                    <a:pt x="3768090" y="2359914"/>
                  </a:lnTo>
                  <a:lnTo>
                    <a:pt x="0" y="23599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355" t="0" r="-30355" b="0"/>
              </a:stretch>
            </a:blipFill>
            <a:ln w="14288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8983980" y="9217152"/>
            <a:ext cx="2811780" cy="301752"/>
            <a:chOff x="0" y="0"/>
            <a:chExt cx="3749040" cy="4023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749040" cy="402336"/>
            </a:xfrm>
            <a:custGeom>
              <a:avLst/>
              <a:gdLst/>
              <a:ahLst/>
              <a:cxnLst/>
              <a:rect r="r" b="b" t="t" l="l"/>
              <a:pathLst>
                <a:path h="402336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74904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B10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PRECEDENT analogs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967210" y="7406640"/>
            <a:ext cx="2811780" cy="1755648"/>
            <a:chOff x="0" y="0"/>
            <a:chExt cx="3749040" cy="2340864"/>
          </a:xfrm>
        </p:grpSpPr>
        <p:sp>
          <p:nvSpPr>
            <p:cNvPr name="Freeform 62" id="62" descr="Stress Lab"/>
            <p:cNvSpPr/>
            <p:nvPr/>
          </p:nvSpPr>
          <p:spPr>
            <a:xfrm flipH="false" flipV="false" rot="0">
              <a:off x="0" y="0"/>
              <a:ext cx="3749040" cy="2340864"/>
            </a:xfrm>
            <a:custGeom>
              <a:avLst/>
              <a:gdLst/>
              <a:ahLst/>
              <a:cxnLst/>
              <a:rect r="r" b="b" t="t" l="l"/>
              <a:pathLst>
                <a:path h="2340864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2340864"/>
                  </a:lnTo>
                  <a:lnTo>
                    <a:pt x="0" y="2340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8" r="0" b="-48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960066" y="7399496"/>
            <a:ext cx="2826067" cy="1769936"/>
            <a:chOff x="0" y="0"/>
            <a:chExt cx="3768090" cy="235991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768090" cy="2359914"/>
            </a:xfrm>
            <a:custGeom>
              <a:avLst/>
              <a:gdLst/>
              <a:ahLst/>
              <a:cxnLst/>
              <a:rect r="r" b="b" t="t" l="l"/>
              <a:pathLst>
                <a:path h="2359914" w="3768090">
                  <a:moveTo>
                    <a:pt x="0" y="0"/>
                  </a:moveTo>
                  <a:lnTo>
                    <a:pt x="3768090" y="0"/>
                  </a:lnTo>
                  <a:lnTo>
                    <a:pt x="3768090" y="2359914"/>
                  </a:lnTo>
                  <a:lnTo>
                    <a:pt x="0" y="23599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355" t="0" r="-30355" b="0"/>
              </a:stretch>
            </a:blipFill>
            <a:ln w="14288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1967210" y="9217152"/>
            <a:ext cx="2811780" cy="301752"/>
            <a:chOff x="0" y="0"/>
            <a:chExt cx="374904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749040" cy="402336"/>
            </a:xfrm>
            <a:custGeom>
              <a:avLst/>
              <a:gdLst/>
              <a:ahLst/>
              <a:cxnLst/>
              <a:rect r="r" b="b" t="t" l="l"/>
              <a:pathLst>
                <a:path h="402336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74904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B10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Stress Lab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950440" y="7406640"/>
            <a:ext cx="2811780" cy="1755648"/>
            <a:chOff x="0" y="0"/>
            <a:chExt cx="3749040" cy="2340864"/>
          </a:xfrm>
        </p:grpSpPr>
        <p:sp>
          <p:nvSpPr>
            <p:cNvPr name="Freeform 69" id="69" descr="Adaptive Index"/>
            <p:cNvSpPr/>
            <p:nvPr/>
          </p:nvSpPr>
          <p:spPr>
            <a:xfrm flipH="false" flipV="false" rot="0">
              <a:off x="0" y="0"/>
              <a:ext cx="3749040" cy="2340864"/>
            </a:xfrm>
            <a:custGeom>
              <a:avLst/>
              <a:gdLst/>
              <a:ahLst/>
              <a:cxnLst/>
              <a:rect r="r" b="b" t="t" l="l"/>
              <a:pathLst>
                <a:path h="2340864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2340864"/>
                  </a:lnTo>
                  <a:lnTo>
                    <a:pt x="0" y="2340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8" r="0" b="-48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943296" y="7399496"/>
            <a:ext cx="2826067" cy="1769936"/>
            <a:chOff x="0" y="0"/>
            <a:chExt cx="3768090" cy="235991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68090" cy="2359914"/>
            </a:xfrm>
            <a:custGeom>
              <a:avLst/>
              <a:gdLst/>
              <a:ahLst/>
              <a:cxnLst/>
              <a:rect r="r" b="b" t="t" l="l"/>
              <a:pathLst>
                <a:path h="2359914" w="3768090">
                  <a:moveTo>
                    <a:pt x="0" y="0"/>
                  </a:moveTo>
                  <a:lnTo>
                    <a:pt x="3768090" y="0"/>
                  </a:lnTo>
                  <a:lnTo>
                    <a:pt x="3768090" y="2359914"/>
                  </a:lnTo>
                  <a:lnTo>
                    <a:pt x="0" y="23599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355" t="0" r="-30355" b="0"/>
              </a:stretch>
            </a:blipFill>
            <a:ln w="14288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950440" y="9217152"/>
            <a:ext cx="2811780" cy="301752"/>
            <a:chOff x="0" y="0"/>
            <a:chExt cx="3749040" cy="4023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749040" cy="402336"/>
            </a:xfrm>
            <a:custGeom>
              <a:avLst/>
              <a:gdLst/>
              <a:ahLst/>
              <a:cxnLst/>
              <a:rect r="r" b="b" t="t" l="l"/>
              <a:pathLst>
                <a:path h="402336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74904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B10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Adaptive Index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983980" y="9628632"/>
            <a:ext cx="8778240" cy="301752"/>
            <a:chOff x="0" y="0"/>
            <a:chExt cx="11704320" cy="4023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704320" cy="402336"/>
            </a:xfrm>
            <a:custGeom>
              <a:avLst/>
              <a:gdLst/>
              <a:ahLst/>
              <a:cxnLst/>
              <a:rect r="r" b="b" t="t" l="l"/>
              <a:pathLst>
                <a:path h="40233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6837" r="0" b="-51683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1170432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i="true">
                  <a:solidFill>
                    <a:srgbClr val="0B102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Real captures from the running app on seeded demo data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663557"/>
            <a:ext cx="19175593" cy="19175593"/>
          </a:xfrm>
          <a:custGeom>
            <a:avLst/>
            <a:gdLst/>
            <a:ahLst/>
            <a:cxnLst/>
            <a:rect r="r" b="b" t="t" l="l"/>
            <a:pathLst>
              <a:path h="19175593" w="19175593">
                <a:moveTo>
                  <a:pt x="0" y="0"/>
                </a:moveTo>
                <a:lnTo>
                  <a:pt x="19175593" y="0"/>
                </a:lnTo>
                <a:lnTo>
                  <a:pt x="19175593" y="19175593"/>
                </a:lnTo>
                <a:lnTo>
                  <a:pt x="0" y="19175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2940">
            <a:off x="815816" y="9678734"/>
            <a:ext cx="16651805" cy="0"/>
          </a:xfrm>
          <a:prstGeom prst="line">
            <a:avLst/>
          </a:prstGeom>
          <a:ln cap="rnd" w="9525">
            <a:solidFill>
              <a:srgbClr val="D9DC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22960" y="9765792"/>
            <a:ext cx="12344400" cy="342900"/>
            <a:chOff x="0" y="0"/>
            <a:chExt cx="164592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457200"/>
            </a:xfrm>
            <a:custGeom>
              <a:avLst/>
              <a:gdLst/>
              <a:ahLst/>
              <a:cxnLst/>
              <a:rect r="r" b="b" t="t" l="l"/>
              <a:pathLst>
                <a:path h="457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4592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SENTINEL  ·  Chaitenya Chand  ·  IGDTUW  ·  S&amp;P Global &amp; Crisil Campus Hackathon 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66344"/>
            <a:ext cx="10972800" cy="342900"/>
            <a:chOff x="0" y="0"/>
            <a:chExt cx="1463040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630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·  PROBLEM &amp; APPROACH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840867"/>
            <a:ext cx="16637508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B1020"/>
                </a:solidFill>
                <a:latin typeface="Cambria Bold"/>
                <a:ea typeface="Cambria Bold"/>
                <a:cs typeface="Cambria Bold"/>
                <a:sym typeface="Cambria Bold"/>
              </a:rPr>
              <a:t>Headlines move portfolios, but analysts get noise without memory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5816" y="2118836"/>
            <a:ext cx="6255068" cy="7283768"/>
            <a:chOff x="0" y="0"/>
            <a:chExt cx="8340090" cy="9711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40089" cy="9711689"/>
            </a:xfrm>
            <a:custGeom>
              <a:avLst/>
              <a:gdLst/>
              <a:ahLst/>
              <a:cxnLst/>
              <a:rect r="r" b="b" t="t" l="l"/>
              <a:pathLst>
                <a:path h="9711689" w="8340089">
                  <a:moveTo>
                    <a:pt x="0" y="146558"/>
                  </a:moveTo>
                  <a:cubicBezTo>
                    <a:pt x="0" y="65659"/>
                    <a:pt x="65659" y="0"/>
                    <a:pt x="146558" y="0"/>
                  </a:cubicBezTo>
                  <a:lnTo>
                    <a:pt x="8193532" y="0"/>
                  </a:lnTo>
                  <a:cubicBezTo>
                    <a:pt x="8274558" y="0"/>
                    <a:pt x="8340089" y="65659"/>
                    <a:pt x="8340089" y="146558"/>
                  </a:cubicBezTo>
                  <a:lnTo>
                    <a:pt x="8340089" y="9565132"/>
                  </a:lnTo>
                  <a:cubicBezTo>
                    <a:pt x="8340089" y="9646158"/>
                    <a:pt x="8274431" y="9711689"/>
                    <a:pt x="8193532" y="9711689"/>
                  </a:cubicBezTo>
                  <a:lnTo>
                    <a:pt x="146558" y="9711689"/>
                  </a:lnTo>
                  <a:cubicBezTo>
                    <a:pt x="65659" y="9711690"/>
                    <a:pt x="0" y="9646031"/>
                    <a:pt x="0" y="956513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359152"/>
            <a:ext cx="5486400" cy="342900"/>
            <a:chOff x="0" y="0"/>
            <a:chExt cx="73152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3152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GAP TODAY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56335" y="3007995"/>
            <a:ext cx="773430" cy="773430"/>
            <a:chOff x="0" y="0"/>
            <a:chExt cx="1031240" cy="1031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0B1020"/>
            </a:solidFill>
            <a:ln w="19050" cap="sq">
              <a:solidFill>
                <a:srgbClr val="0B102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46911" y="3198571"/>
            <a:ext cx="392278" cy="392278"/>
            <a:chOff x="0" y="0"/>
            <a:chExt cx="523037" cy="523037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25980" y="2990088"/>
            <a:ext cx="4663440" cy="411480"/>
            <a:chOff x="0" y="0"/>
            <a:chExt cx="621792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217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Noise overwhelms signal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25980" y="3390900"/>
            <a:ext cx="466344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Only 29 of 150 hand-labelled headlines (19%) were risk-relevant. Analysts triage five items for every one that matters.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56335" y="5202555"/>
            <a:ext cx="773430" cy="773430"/>
            <a:chOff x="0" y="0"/>
            <a:chExt cx="1031240" cy="1031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0B1020"/>
            </a:solidFill>
            <a:ln w="19050" cap="sq">
              <a:solidFill>
                <a:srgbClr val="0B102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46911" y="5393131"/>
            <a:ext cx="392278" cy="392278"/>
            <a:chOff x="0" y="0"/>
            <a:chExt cx="523037" cy="523037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125980" y="5184648"/>
            <a:ext cx="4663440" cy="411480"/>
            <a:chOff x="0" y="0"/>
            <a:chExt cx="62179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217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Alerts have no memory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25980" y="5585460"/>
            <a:ext cx="466344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Sentiment tools say how today's headline feels, not what markets did the last time something similar hit.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56335" y="7397115"/>
            <a:ext cx="773430" cy="773430"/>
            <a:chOff x="0" y="0"/>
            <a:chExt cx="1031240" cy="1031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0B1020"/>
            </a:solidFill>
            <a:ln w="19050" cap="sq">
              <a:solidFill>
                <a:srgbClr val="0B102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46911" y="7587691"/>
            <a:ext cx="392278" cy="392278"/>
            <a:chOff x="0" y="0"/>
            <a:chExt cx="523037" cy="523037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125980" y="7379208"/>
            <a:ext cx="4663440" cy="411480"/>
            <a:chOff x="0" y="0"/>
            <a:chExt cx="621792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217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Insight stops at the dashboard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25980" y="7780020"/>
            <a:ext cx="466344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Nothing links an event to portfolio loss, to a rule that fires, and to a decision someone can audit.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406640" y="2167128"/>
            <a:ext cx="8229600" cy="342900"/>
            <a:chOff x="0" y="0"/>
            <a:chExt cx="1097280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09728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LOOP, FOUR VERBS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399496" y="2667476"/>
            <a:ext cx="2373440" cy="4060508"/>
            <a:chOff x="0" y="0"/>
            <a:chExt cx="3164586" cy="54140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64586" cy="5414010"/>
            </a:xfrm>
            <a:custGeom>
              <a:avLst/>
              <a:gdLst/>
              <a:ahLst/>
              <a:cxnLst/>
              <a:rect r="r" b="b" t="t" l="l"/>
              <a:pathLst>
                <a:path h="5414010" w="316458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017393" y="0"/>
                  </a:lnTo>
                  <a:cubicBezTo>
                    <a:pt x="3098673" y="0"/>
                    <a:pt x="3164586" y="65913"/>
                    <a:pt x="3164586" y="147193"/>
                  </a:cubicBezTo>
                  <a:lnTo>
                    <a:pt x="3164586" y="5266817"/>
                  </a:lnTo>
                  <a:cubicBezTo>
                    <a:pt x="3164586" y="5348097"/>
                    <a:pt x="3098673" y="5414010"/>
                    <a:pt x="3017393" y="5414010"/>
                  </a:cubicBezTo>
                  <a:lnTo>
                    <a:pt x="147193" y="5414010"/>
                  </a:lnTo>
                  <a:cubicBezTo>
                    <a:pt x="65913" y="5414010"/>
                    <a:pt x="0" y="5348097"/>
                    <a:pt x="0" y="52668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397115" y="2665095"/>
            <a:ext cx="2378202" cy="142494"/>
            <a:chOff x="0" y="0"/>
            <a:chExt cx="3170936" cy="1899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70936" cy="189992"/>
            </a:xfrm>
            <a:custGeom>
              <a:avLst/>
              <a:gdLst/>
              <a:ahLst/>
              <a:cxnLst/>
              <a:rect r="r" b="b" t="t" l="l"/>
              <a:pathLst>
                <a:path h="189992" w="3170936">
                  <a:moveTo>
                    <a:pt x="0" y="0"/>
                  </a:moveTo>
                  <a:lnTo>
                    <a:pt x="3170936" y="0"/>
                  </a:lnTo>
                  <a:lnTo>
                    <a:pt x="3170936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602855" y="3007995"/>
            <a:ext cx="704850" cy="704850"/>
            <a:chOff x="0" y="0"/>
            <a:chExt cx="939800" cy="939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776972" y="3182112"/>
            <a:ext cx="356616" cy="356616"/>
            <a:chOff x="0" y="0"/>
            <a:chExt cx="475488" cy="475488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612380" y="3840480"/>
            <a:ext cx="2016252" cy="521208"/>
            <a:chOff x="0" y="0"/>
            <a:chExt cx="2688336" cy="6949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88336" cy="694944"/>
            </a:xfrm>
            <a:custGeom>
              <a:avLst/>
              <a:gdLst/>
              <a:ahLst/>
              <a:cxnLst/>
              <a:rect r="r" b="b" t="t" l="l"/>
              <a:pathLst>
                <a:path h="694944" w="2688336">
                  <a:moveTo>
                    <a:pt x="0" y="0"/>
                  </a:moveTo>
                  <a:lnTo>
                    <a:pt x="2688336" y="0"/>
                  </a:lnTo>
                  <a:lnTo>
                    <a:pt x="268833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76" r="0" b="-2537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2688336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Detect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612380" y="4370070"/>
            <a:ext cx="1975104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Relevance gate, event type, FinBERT sentiment and an integrity score turn raw headlines into scored signals.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612380" y="6103620"/>
            <a:ext cx="1947672" cy="384048"/>
            <a:chOff x="0" y="0"/>
            <a:chExt cx="2596896" cy="5120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96896" cy="512064"/>
            </a:xfrm>
            <a:custGeom>
              <a:avLst/>
              <a:gdLst/>
              <a:ahLst/>
              <a:cxnLst/>
              <a:rect r="r" b="b" t="t" l="l"/>
              <a:pathLst>
                <a:path h="512064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3F4F7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596896" cy="550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NLP pipeline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38360" y="4389120"/>
            <a:ext cx="274320" cy="480060"/>
            <a:chOff x="0" y="0"/>
            <a:chExt cx="36576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1" t="0" r="-174531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657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›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964388" y="2667476"/>
            <a:ext cx="2373440" cy="4060508"/>
            <a:chOff x="0" y="0"/>
            <a:chExt cx="3164586" cy="541401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164586" cy="5414010"/>
            </a:xfrm>
            <a:custGeom>
              <a:avLst/>
              <a:gdLst/>
              <a:ahLst/>
              <a:cxnLst/>
              <a:rect r="r" b="b" t="t" l="l"/>
              <a:pathLst>
                <a:path h="5414010" w="316458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017393" y="0"/>
                  </a:lnTo>
                  <a:cubicBezTo>
                    <a:pt x="3098673" y="0"/>
                    <a:pt x="3164586" y="65913"/>
                    <a:pt x="3164586" y="147193"/>
                  </a:cubicBezTo>
                  <a:lnTo>
                    <a:pt x="3164586" y="5266817"/>
                  </a:lnTo>
                  <a:cubicBezTo>
                    <a:pt x="3164586" y="5348097"/>
                    <a:pt x="3098673" y="5414010"/>
                    <a:pt x="3017393" y="5414010"/>
                  </a:cubicBezTo>
                  <a:lnTo>
                    <a:pt x="147193" y="5414010"/>
                  </a:lnTo>
                  <a:cubicBezTo>
                    <a:pt x="65913" y="5414010"/>
                    <a:pt x="0" y="5348097"/>
                    <a:pt x="0" y="52668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962007" y="2665095"/>
            <a:ext cx="2378202" cy="142494"/>
            <a:chOff x="0" y="0"/>
            <a:chExt cx="3170936" cy="1899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170936" cy="189992"/>
            </a:xfrm>
            <a:custGeom>
              <a:avLst/>
              <a:gdLst/>
              <a:ahLst/>
              <a:cxnLst/>
              <a:rect r="r" b="b" t="t" l="l"/>
              <a:pathLst>
                <a:path h="189992" w="3170936">
                  <a:moveTo>
                    <a:pt x="0" y="0"/>
                  </a:moveTo>
                  <a:lnTo>
                    <a:pt x="3170936" y="0"/>
                  </a:lnTo>
                  <a:lnTo>
                    <a:pt x="3170936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0F7B6C"/>
            </a:solidFill>
            <a:ln w="19050" cap="sq">
              <a:solidFill>
                <a:srgbClr val="0F7B6C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0167747" y="3007995"/>
            <a:ext cx="704850" cy="704850"/>
            <a:chOff x="0" y="0"/>
            <a:chExt cx="939800" cy="939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F7B6C"/>
            </a:solidFill>
            <a:ln w="19050" cap="sq">
              <a:solidFill>
                <a:srgbClr val="0F7B6C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341864" y="3182112"/>
            <a:ext cx="356616" cy="356616"/>
            <a:chOff x="0" y="0"/>
            <a:chExt cx="475488" cy="475488"/>
          </a:xfrm>
        </p:grpSpPr>
        <p:sp>
          <p:nvSpPr>
            <p:cNvPr name="Freeform 68" id="68" descr="preencoded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177272" y="3840480"/>
            <a:ext cx="2016252" cy="521208"/>
            <a:chOff x="0" y="0"/>
            <a:chExt cx="2688336" cy="6949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688336" cy="694944"/>
            </a:xfrm>
            <a:custGeom>
              <a:avLst/>
              <a:gdLst/>
              <a:ahLst/>
              <a:cxnLst/>
              <a:rect r="r" b="b" t="t" l="l"/>
              <a:pathLst>
                <a:path h="694944" w="2688336">
                  <a:moveTo>
                    <a:pt x="0" y="0"/>
                  </a:moveTo>
                  <a:lnTo>
                    <a:pt x="2688336" y="0"/>
                  </a:lnTo>
                  <a:lnTo>
                    <a:pt x="268833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76" r="0" b="-2537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688336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Remember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0177272" y="4370070"/>
            <a:ext cx="1975104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PRECEDENT finds point-in-time analog events and shows what markets did over the next 20 days.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0177272" y="6103620"/>
            <a:ext cx="1947672" cy="384048"/>
            <a:chOff x="0" y="0"/>
            <a:chExt cx="2596896" cy="5120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96896" cy="512064"/>
            </a:xfrm>
            <a:custGeom>
              <a:avLst/>
              <a:gdLst/>
              <a:ahLst/>
              <a:cxnLst/>
              <a:rect r="r" b="b" t="t" l="l"/>
              <a:pathLst>
                <a:path h="512064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3F4F7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596896" cy="550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F7B6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PRECEDENT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303252" y="4389120"/>
            <a:ext cx="274320" cy="480060"/>
            <a:chOff x="0" y="0"/>
            <a:chExt cx="365760" cy="6400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1" t="0" r="-174531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3657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›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529280" y="2667476"/>
            <a:ext cx="2373440" cy="4060508"/>
            <a:chOff x="0" y="0"/>
            <a:chExt cx="3164586" cy="541401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64586" cy="5414010"/>
            </a:xfrm>
            <a:custGeom>
              <a:avLst/>
              <a:gdLst/>
              <a:ahLst/>
              <a:cxnLst/>
              <a:rect r="r" b="b" t="t" l="l"/>
              <a:pathLst>
                <a:path h="5414010" w="316458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017393" y="0"/>
                  </a:lnTo>
                  <a:cubicBezTo>
                    <a:pt x="3098673" y="0"/>
                    <a:pt x="3164586" y="65913"/>
                    <a:pt x="3164586" y="147193"/>
                  </a:cubicBezTo>
                  <a:lnTo>
                    <a:pt x="3164586" y="5266817"/>
                  </a:lnTo>
                  <a:cubicBezTo>
                    <a:pt x="3164586" y="5348097"/>
                    <a:pt x="3098673" y="5414010"/>
                    <a:pt x="3017393" y="5414010"/>
                  </a:cubicBezTo>
                  <a:lnTo>
                    <a:pt x="147193" y="5414010"/>
                  </a:lnTo>
                  <a:cubicBezTo>
                    <a:pt x="65913" y="5414010"/>
                    <a:pt x="0" y="5348097"/>
                    <a:pt x="0" y="52668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2526899" y="2665095"/>
            <a:ext cx="2378202" cy="142494"/>
            <a:chOff x="0" y="0"/>
            <a:chExt cx="3170936" cy="1899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170936" cy="189992"/>
            </a:xfrm>
            <a:custGeom>
              <a:avLst/>
              <a:gdLst/>
              <a:ahLst/>
              <a:cxnLst/>
              <a:rect r="r" b="b" t="t" l="l"/>
              <a:pathLst>
                <a:path h="189992" w="3170936">
                  <a:moveTo>
                    <a:pt x="0" y="0"/>
                  </a:moveTo>
                  <a:lnTo>
                    <a:pt x="3170936" y="0"/>
                  </a:lnTo>
                  <a:lnTo>
                    <a:pt x="3170936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2B4C8C"/>
            </a:solidFill>
            <a:ln w="19050" cap="sq">
              <a:solidFill>
                <a:srgbClr val="2B4C8C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2732639" y="3007995"/>
            <a:ext cx="704850" cy="704850"/>
            <a:chOff x="0" y="0"/>
            <a:chExt cx="939800" cy="939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2B4C8C"/>
            </a:solidFill>
            <a:ln w="19050" cap="sq">
              <a:solidFill>
                <a:srgbClr val="2B4C8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2906756" y="3182112"/>
            <a:ext cx="356616" cy="356616"/>
            <a:chOff x="0" y="0"/>
            <a:chExt cx="475488" cy="475488"/>
          </a:xfrm>
        </p:grpSpPr>
        <p:sp>
          <p:nvSpPr>
            <p:cNvPr name="Freeform 86" id="86" descr="preencoded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742164" y="3840480"/>
            <a:ext cx="2016252" cy="521208"/>
            <a:chOff x="0" y="0"/>
            <a:chExt cx="2688336" cy="69494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688336" cy="694944"/>
            </a:xfrm>
            <a:custGeom>
              <a:avLst/>
              <a:gdLst/>
              <a:ahLst/>
              <a:cxnLst/>
              <a:rect r="r" b="b" t="t" l="l"/>
              <a:pathLst>
                <a:path h="694944" w="2688336">
                  <a:moveTo>
                    <a:pt x="0" y="0"/>
                  </a:moveTo>
                  <a:lnTo>
                    <a:pt x="2688336" y="0"/>
                  </a:lnTo>
                  <a:lnTo>
                    <a:pt x="268833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76" r="0" b="-2537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2688336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Quantify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2742164" y="4370070"/>
            <a:ext cx="1975104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Calibrated shocks revalue the whole book: VaR/ES, Shapley attribution, reverse stress.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2742164" y="6103620"/>
            <a:ext cx="1947672" cy="384048"/>
            <a:chOff x="0" y="0"/>
            <a:chExt cx="2596896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96896" cy="512064"/>
            </a:xfrm>
            <a:custGeom>
              <a:avLst/>
              <a:gdLst/>
              <a:ahLst/>
              <a:cxnLst/>
              <a:rect r="r" b="b" t="t" l="l"/>
              <a:pathLst>
                <a:path h="512064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3F4F7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596896" cy="550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B4C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Stress Lab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868144" y="4389120"/>
            <a:ext cx="274320" cy="480060"/>
            <a:chOff x="0" y="0"/>
            <a:chExt cx="365760" cy="6400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576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1" t="0" r="-174531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3657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›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094172" y="2667476"/>
            <a:ext cx="2373440" cy="4060508"/>
            <a:chOff x="0" y="0"/>
            <a:chExt cx="3164586" cy="541401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64586" cy="5414010"/>
            </a:xfrm>
            <a:custGeom>
              <a:avLst/>
              <a:gdLst/>
              <a:ahLst/>
              <a:cxnLst/>
              <a:rect r="r" b="b" t="t" l="l"/>
              <a:pathLst>
                <a:path h="5414010" w="316458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017393" y="0"/>
                  </a:lnTo>
                  <a:cubicBezTo>
                    <a:pt x="3098673" y="0"/>
                    <a:pt x="3164586" y="65913"/>
                    <a:pt x="3164586" y="147193"/>
                  </a:cubicBezTo>
                  <a:lnTo>
                    <a:pt x="3164586" y="5266817"/>
                  </a:lnTo>
                  <a:cubicBezTo>
                    <a:pt x="3164586" y="5348097"/>
                    <a:pt x="3098673" y="5414010"/>
                    <a:pt x="3017393" y="5414010"/>
                  </a:cubicBezTo>
                  <a:lnTo>
                    <a:pt x="147193" y="5414010"/>
                  </a:lnTo>
                  <a:cubicBezTo>
                    <a:pt x="65913" y="5414010"/>
                    <a:pt x="0" y="5348097"/>
                    <a:pt x="0" y="52668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5091791" y="2665095"/>
            <a:ext cx="2378202" cy="142494"/>
            <a:chOff x="0" y="0"/>
            <a:chExt cx="3170936" cy="1899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170936" cy="189992"/>
            </a:xfrm>
            <a:custGeom>
              <a:avLst/>
              <a:gdLst/>
              <a:ahLst/>
              <a:cxnLst/>
              <a:rect r="r" b="b" t="t" l="l"/>
              <a:pathLst>
                <a:path h="189992" w="3170936">
                  <a:moveTo>
                    <a:pt x="0" y="0"/>
                  </a:moveTo>
                  <a:lnTo>
                    <a:pt x="3170936" y="0"/>
                  </a:lnTo>
                  <a:lnTo>
                    <a:pt x="3170936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B7791F"/>
            </a:solidFill>
            <a:ln w="19050" cap="sq">
              <a:solidFill>
                <a:srgbClr val="B7791F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297531" y="3007995"/>
            <a:ext cx="704850" cy="704850"/>
            <a:chOff x="0" y="0"/>
            <a:chExt cx="939800" cy="9398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B7791F"/>
            </a:solidFill>
            <a:ln w="19050" cap="sq">
              <a:solidFill>
                <a:srgbClr val="B7791F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5471648" y="3182112"/>
            <a:ext cx="356616" cy="356616"/>
            <a:chOff x="0" y="0"/>
            <a:chExt cx="475488" cy="475488"/>
          </a:xfrm>
        </p:grpSpPr>
        <p:sp>
          <p:nvSpPr>
            <p:cNvPr name="Freeform 104" id="104" descr="preencoded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5307056" y="3840480"/>
            <a:ext cx="2016252" cy="521208"/>
            <a:chOff x="0" y="0"/>
            <a:chExt cx="2688336" cy="69494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688336" cy="694944"/>
            </a:xfrm>
            <a:custGeom>
              <a:avLst/>
              <a:gdLst/>
              <a:ahLst/>
              <a:cxnLst/>
              <a:rect r="r" b="b" t="t" l="l"/>
              <a:pathLst>
                <a:path h="694944" w="2688336">
                  <a:moveTo>
                    <a:pt x="0" y="0"/>
                  </a:moveTo>
                  <a:lnTo>
                    <a:pt x="2688336" y="0"/>
                  </a:lnTo>
                  <a:lnTo>
                    <a:pt x="268833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76" r="0" b="-2537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2688336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Act</a:t>
              </a: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15307056" y="4370070"/>
            <a:ext cx="1975104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Adaptive Index tilts weights within caps; a PM approves; every step is hash-chained.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15307056" y="6103620"/>
            <a:ext cx="1947672" cy="384048"/>
            <a:chOff x="0" y="0"/>
            <a:chExt cx="2596896" cy="5120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596896" cy="512064"/>
            </a:xfrm>
            <a:custGeom>
              <a:avLst/>
              <a:gdLst/>
              <a:ahLst/>
              <a:cxnLst/>
              <a:rect r="r" b="b" t="t" l="l"/>
              <a:pathLst>
                <a:path h="512064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3F4F7"/>
            </a:solid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596896" cy="550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B779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 + Audit</a:t>
              </a:r>
            </a:p>
          </p:txBody>
        </p:sp>
      </p:grpSp>
      <p:graphicFrame>
        <p:nvGraphicFramePr>
          <p:cNvPr name="Table 112" id="112"/>
          <p:cNvGraphicFramePr>
            <a:graphicFrameLocks noGrp="true"/>
          </p:cNvGraphicFramePr>
          <p:nvPr/>
        </p:nvGraphicFramePr>
        <p:xfrm>
          <a:off x="7406640" y="6995160"/>
          <a:ext cx="10020300" cy="2000250"/>
        </p:xfrm>
        <a:graphic>
          <a:graphicData uri="http://schemas.openxmlformats.org/drawingml/2006/table">
            <a:tbl>
              <a:tblPr/>
              <a:tblGrid>
                <a:gridCol w="3970286"/>
                <a:gridCol w="6050014"/>
              </a:tblGrid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Typical workflow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SENTINEL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5B647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Keyword alerts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0B102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Learned + rule hybrid gate (AUC 0.78 vs 0.56 rules-only)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5B647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Today's sentiment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0B102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Sentiment plus analog outcomes, with a low-n warning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5B647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Spreadsheet what-ifs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0B102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Full revaluation of 109 holdings in about 0.2 s, with attribution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5B647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Rebalance by hand (58.5% turnover*)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0B102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Constrained tilt, optional PM approval (15.0% turnover*)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3" id="113"/>
          <p:cNvGrpSpPr/>
          <p:nvPr/>
        </p:nvGrpSpPr>
        <p:grpSpPr>
          <a:xfrm rot="0">
            <a:off x="7406640" y="9162288"/>
            <a:ext cx="10053828" cy="301752"/>
            <a:chOff x="0" y="0"/>
            <a:chExt cx="13405104" cy="40233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3405104" cy="402336"/>
            </a:xfrm>
            <a:custGeom>
              <a:avLst/>
              <a:gdLst/>
              <a:ahLst/>
              <a:cxnLst/>
              <a:rect r="r" b="b" t="t" l="l"/>
              <a:pathLst>
                <a:path h="402336" w="13405104">
                  <a:moveTo>
                    <a:pt x="0" y="0"/>
                  </a:moveTo>
                  <a:lnTo>
                    <a:pt x="13405104" y="0"/>
                  </a:lnTo>
                  <a:lnTo>
                    <a:pt x="1340510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206" r="0" b="-59920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13405104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i="true">
                  <a:solidFill>
                    <a:srgbClr val="5B647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*30-day backfill on synthetic demo data. AUC from the held-out set of 150 labelled headlines.</a:t>
              </a:r>
            </a:p>
          </p:txBody>
        </p:sp>
      </p:grpSp>
      <p:sp>
        <p:nvSpPr>
          <p:cNvPr name="TextBox 116" id="116"/>
          <p:cNvSpPr txBox="true"/>
          <p:nvPr/>
        </p:nvSpPr>
        <p:spPr>
          <a:xfrm rot="0">
            <a:off x="16824960" y="9782937"/>
            <a:ext cx="544068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663557"/>
            <a:ext cx="19175593" cy="19175593"/>
          </a:xfrm>
          <a:custGeom>
            <a:avLst/>
            <a:gdLst/>
            <a:ahLst/>
            <a:cxnLst/>
            <a:rect r="r" b="b" t="t" l="l"/>
            <a:pathLst>
              <a:path h="19175593" w="19175593">
                <a:moveTo>
                  <a:pt x="0" y="0"/>
                </a:moveTo>
                <a:lnTo>
                  <a:pt x="19175593" y="0"/>
                </a:lnTo>
                <a:lnTo>
                  <a:pt x="19175593" y="19175593"/>
                </a:lnTo>
                <a:lnTo>
                  <a:pt x="0" y="19175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2940">
            <a:off x="815816" y="9678734"/>
            <a:ext cx="16651805" cy="0"/>
          </a:xfrm>
          <a:prstGeom prst="line">
            <a:avLst/>
          </a:prstGeom>
          <a:ln cap="rnd" w="9525">
            <a:solidFill>
              <a:srgbClr val="D9DC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22960" y="9765792"/>
            <a:ext cx="12344400" cy="342900"/>
            <a:chOff x="0" y="0"/>
            <a:chExt cx="164592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457200"/>
            </a:xfrm>
            <a:custGeom>
              <a:avLst/>
              <a:gdLst/>
              <a:ahLst/>
              <a:cxnLst/>
              <a:rect r="r" b="b" t="t" l="l"/>
              <a:pathLst>
                <a:path h="457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4592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SENTINEL  ·  Chaitenya Chand  ·  IGDTUW  ·  S&amp;P Global &amp; Crisil Campus Hackathon 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66344"/>
            <a:ext cx="10972800" cy="342900"/>
            <a:chOff x="0" y="0"/>
            <a:chExt cx="1463040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630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·  SYSTEM DESIGN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840867"/>
            <a:ext cx="16637508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B1020"/>
                </a:solidFill>
                <a:latin typeface="Cambria Bold"/>
                <a:ea typeface="Cambria Bold"/>
                <a:cs typeface="Cambria Bold"/>
                <a:sym typeface="Cambria Bold"/>
              </a:rPr>
              <a:t>One event stream feeds five engines in one auditable platform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08760" y="1947672"/>
            <a:ext cx="15265908" cy="7022592"/>
            <a:chOff x="0" y="0"/>
            <a:chExt cx="20354544" cy="9363456"/>
          </a:xfrm>
        </p:grpSpPr>
        <p:sp>
          <p:nvSpPr>
            <p:cNvPr name="Freeform 12" id="12" descr="SENTINEL architecture block diagram: sources, ingest and NLP, platform, intelligence engines, API, terminal"/>
            <p:cNvSpPr/>
            <p:nvPr/>
          </p:nvSpPr>
          <p:spPr>
            <a:xfrm flipH="false" flipV="false" rot="0">
              <a:off x="0" y="0"/>
              <a:ext cx="20354544" cy="9363456"/>
            </a:xfrm>
            <a:custGeom>
              <a:avLst/>
              <a:gdLst/>
              <a:ahLst/>
              <a:cxnLst/>
              <a:rect r="r" b="b" t="t" l="l"/>
              <a:pathLst>
                <a:path h="936345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9363456"/>
                  </a:lnTo>
                  <a:lnTo>
                    <a:pt x="0" y="9363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7" r="0" b="-4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3435" y="9097899"/>
            <a:ext cx="361950" cy="361950"/>
            <a:chOff x="0" y="0"/>
            <a:chExt cx="482600" cy="482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107424"/>
            <a:ext cx="342900" cy="342900"/>
            <a:chOff x="0" y="0"/>
            <a:chExt cx="4572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9025128"/>
            <a:ext cx="2304288" cy="548640"/>
            <a:chOff x="0" y="0"/>
            <a:chExt cx="3072384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07238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sources ingested, deduped, time-stamped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597783" y="9097899"/>
            <a:ext cx="361950" cy="361950"/>
            <a:chOff x="0" y="0"/>
            <a:chExt cx="482600" cy="482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607308" y="9107424"/>
            <a:ext cx="342900" cy="342900"/>
            <a:chOff x="0" y="0"/>
            <a:chExt cx="457200" cy="45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18788" y="9025128"/>
            <a:ext cx="2304288" cy="548640"/>
            <a:chOff x="0" y="0"/>
            <a:chExt cx="3072384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07238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NLP chain scores relevance, type, sentiment, integrity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82131" y="9097899"/>
            <a:ext cx="361950" cy="361950"/>
            <a:chOff x="0" y="0"/>
            <a:chExt cx="482600" cy="482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391656" y="9107424"/>
            <a:ext cx="342900" cy="342900"/>
            <a:chOff x="0" y="0"/>
            <a:chExt cx="457200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03136" y="9025128"/>
            <a:ext cx="2304288" cy="548640"/>
            <a:chOff x="0" y="0"/>
            <a:chExt cx="3072384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07238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Signal saved to Postgres, published on Redis Streams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66479" y="9097899"/>
            <a:ext cx="361950" cy="361950"/>
            <a:chOff x="0" y="0"/>
            <a:chExt cx="482600" cy="482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176004" y="9107424"/>
            <a:ext cx="342900" cy="342900"/>
            <a:chOff x="0" y="0"/>
            <a:chExt cx="457200" cy="457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87484" y="9025128"/>
            <a:ext cx="2304288" cy="548640"/>
            <a:chOff x="0" y="0"/>
            <a:chExt cx="3072384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07238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Engines read and write state via the platform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950827" y="9097899"/>
            <a:ext cx="361950" cy="361950"/>
            <a:chOff x="0" y="0"/>
            <a:chExt cx="482600" cy="482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960352" y="9107424"/>
            <a:ext cx="342900" cy="342900"/>
            <a:chOff x="0" y="0"/>
            <a:chExt cx="45720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71832" y="9025128"/>
            <a:ext cx="2304288" cy="548640"/>
            <a:chOff x="0" y="0"/>
            <a:chExt cx="3072384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07238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 and WebSocket serve the terminal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735175" y="9097899"/>
            <a:ext cx="361950" cy="361950"/>
            <a:chOff x="0" y="0"/>
            <a:chExt cx="482600" cy="482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4744700" y="9107424"/>
            <a:ext cx="342900" cy="342900"/>
            <a:chOff x="0" y="0"/>
            <a:chExt cx="457200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156180" y="9025128"/>
            <a:ext cx="2304288" cy="548640"/>
            <a:chOff x="0" y="0"/>
            <a:chExt cx="3072384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07238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Terminal renders 9 views from real API data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6824960" y="9782937"/>
            <a:ext cx="544068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663557"/>
            <a:ext cx="19175593" cy="19175593"/>
          </a:xfrm>
          <a:custGeom>
            <a:avLst/>
            <a:gdLst/>
            <a:ahLst/>
            <a:cxnLst/>
            <a:rect r="r" b="b" t="t" l="l"/>
            <a:pathLst>
              <a:path h="19175593" w="19175593">
                <a:moveTo>
                  <a:pt x="0" y="0"/>
                </a:moveTo>
                <a:lnTo>
                  <a:pt x="19175593" y="0"/>
                </a:lnTo>
                <a:lnTo>
                  <a:pt x="19175593" y="19175593"/>
                </a:lnTo>
                <a:lnTo>
                  <a:pt x="0" y="19175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2940">
            <a:off x="815816" y="9678734"/>
            <a:ext cx="16651805" cy="0"/>
          </a:xfrm>
          <a:prstGeom prst="line">
            <a:avLst/>
          </a:prstGeom>
          <a:ln cap="rnd" w="9525">
            <a:solidFill>
              <a:srgbClr val="D9DC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22960" y="9765792"/>
            <a:ext cx="12344400" cy="342900"/>
            <a:chOff x="0" y="0"/>
            <a:chExt cx="164592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457200"/>
            </a:xfrm>
            <a:custGeom>
              <a:avLst/>
              <a:gdLst/>
              <a:ahLst/>
              <a:cxnLst/>
              <a:rect r="r" b="b" t="t" l="l"/>
              <a:pathLst>
                <a:path h="457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4592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SENTINEL  ·  Chaitenya Chand  ·  IGDTUW  ·  S&amp;P Global &amp; Crisil Campus Hackathon 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66344"/>
            <a:ext cx="10972800" cy="342900"/>
            <a:chOff x="0" y="0"/>
            <a:chExt cx="1463040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630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·  IMPLEMENTATION HIGHLIGHTS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840867"/>
            <a:ext cx="16637508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B1020"/>
                </a:solidFill>
                <a:latin typeface="Cambria Bold"/>
                <a:ea typeface="Cambria Bold"/>
                <a:cs typeface="Cambria Bold"/>
                <a:sym typeface="Cambria Bold"/>
              </a:rPr>
              <a:t>Four engines, each built to be inspected, tested and explained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435" y="1951863"/>
            <a:ext cx="389382" cy="389382"/>
            <a:chOff x="0" y="0"/>
            <a:chExt cx="519176" cy="5191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176" cy="519176"/>
            </a:xfrm>
            <a:custGeom>
              <a:avLst/>
              <a:gdLst/>
              <a:ahLst/>
              <a:cxnLst/>
              <a:rect r="r" b="b" t="t" l="l"/>
              <a:pathLst>
                <a:path h="519176" w="519176">
                  <a:moveTo>
                    <a:pt x="0" y="259588"/>
                  </a:moveTo>
                  <a:cubicBezTo>
                    <a:pt x="0" y="116205"/>
                    <a:pt x="116205" y="0"/>
                    <a:pt x="259588" y="0"/>
                  </a:cubicBezTo>
                  <a:cubicBezTo>
                    <a:pt x="402971" y="0"/>
                    <a:pt x="519176" y="116205"/>
                    <a:pt x="519176" y="259588"/>
                  </a:cubicBezTo>
                  <a:cubicBezTo>
                    <a:pt x="519176" y="402971"/>
                    <a:pt x="402971" y="519176"/>
                    <a:pt x="259588" y="519176"/>
                  </a:cubicBezTo>
                  <a:cubicBezTo>
                    <a:pt x="116205" y="519176"/>
                    <a:pt x="0" y="402971"/>
                    <a:pt x="0" y="259588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961388"/>
            <a:ext cx="370332" cy="370332"/>
            <a:chOff x="0" y="0"/>
            <a:chExt cx="493776" cy="4937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93776" cy="512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6736" y="1947672"/>
            <a:ext cx="3703320" cy="411480"/>
            <a:chOff x="0" y="0"/>
            <a:chExt cx="49377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9377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NLP signal pipeline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00600" y="1947672"/>
            <a:ext cx="4251960" cy="411480"/>
            <a:chOff x="0" y="0"/>
            <a:chExt cx="56692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669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MiniLM + FinBERT · 8 event types · hybrid gate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2414016"/>
            <a:ext cx="8229600" cy="3182112"/>
            <a:chOff x="0" y="0"/>
            <a:chExt cx="10972800" cy="4242816"/>
          </a:xfrm>
        </p:grpSpPr>
        <p:sp>
          <p:nvSpPr>
            <p:cNvPr name="Freeform 23" id="23" descr="NLP signal pipeline flowchart"/>
            <p:cNvSpPr/>
            <p:nvPr/>
          </p:nvSpPr>
          <p:spPr>
            <a:xfrm flipH="false" flipV="false" rot="0">
              <a:off x="0" y="0"/>
              <a:ext cx="10972800" cy="4242816"/>
            </a:xfrm>
            <a:custGeom>
              <a:avLst/>
              <a:gdLst/>
              <a:ahLst/>
              <a:cxnLst/>
              <a:rect r="r" b="b" t="t" l="l"/>
              <a:pathLst>
                <a:path h="42428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42816"/>
                  </a:lnTo>
                  <a:lnTo>
                    <a:pt x="0" y="4242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7" r="0" b="-11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221343" y="1951863"/>
            <a:ext cx="389382" cy="389382"/>
            <a:chOff x="0" y="0"/>
            <a:chExt cx="519176" cy="519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9176" cy="519176"/>
            </a:xfrm>
            <a:custGeom>
              <a:avLst/>
              <a:gdLst/>
              <a:ahLst/>
              <a:cxnLst/>
              <a:rect r="r" b="b" t="t" l="l"/>
              <a:pathLst>
                <a:path h="519176" w="519176">
                  <a:moveTo>
                    <a:pt x="0" y="259588"/>
                  </a:moveTo>
                  <a:cubicBezTo>
                    <a:pt x="0" y="116205"/>
                    <a:pt x="116205" y="0"/>
                    <a:pt x="259588" y="0"/>
                  </a:cubicBezTo>
                  <a:cubicBezTo>
                    <a:pt x="402971" y="0"/>
                    <a:pt x="519176" y="116205"/>
                    <a:pt x="519176" y="259588"/>
                  </a:cubicBezTo>
                  <a:cubicBezTo>
                    <a:pt x="519176" y="402971"/>
                    <a:pt x="402971" y="519176"/>
                    <a:pt x="259588" y="519176"/>
                  </a:cubicBezTo>
                  <a:cubicBezTo>
                    <a:pt x="116205" y="519176"/>
                    <a:pt x="0" y="402971"/>
                    <a:pt x="0" y="259588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230868" y="1961388"/>
            <a:ext cx="370332" cy="370332"/>
            <a:chOff x="0" y="0"/>
            <a:chExt cx="493776" cy="4937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93776" cy="512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24644" y="1947672"/>
            <a:ext cx="3703320" cy="411480"/>
            <a:chOff x="0" y="0"/>
            <a:chExt cx="493776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9377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PRECEDENT analog engine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208508" y="1947672"/>
            <a:ext cx="4251960" cy="411480"/>
            <a:chOff x="0" y="0"/>
            <a:chExt cx="566928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669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point-in-time · shrinkage w = n/(n+5)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30868" y="2414016"/>
            <a:ext cx="8229600" cy="3182112"/>
            <a:chOff x="0" y="0"/>
            <a:chExt cx="10972800" cy="4242816"/>
          </a:xfrm>
        </p:grpSpPr>
        <p:sp>
          <p:nvSpPr>
            <p:cNvPr name="Freeform 36" id="36" descr="PRECEDENT analog engine flowchart"/>
            <p:cNvSpPr/>
            <p:nvPr/>
          </p:nvSpPr>
          <p:spPr>
            <a:xfrm flipH="false" flipV="false" rot="0">
              <a:off x="0" y="0"/>
              <a:ext cx="10972800" cy="4242816"/>
            </a:xfrm>
            <a:custGeom>
              <a:avLst/>
              <a:gdLst/>
              <a:ahLst/>
              <a:cxnLst/>
              <a:rect r="r" b="b" t="t" l="l"/>
              <a:pathLst>
                <a:path h="42428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42816"/>
                  </a:lnTo>
                  <a:lnTo>
                    <a:pt x="0" y="4242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7" r="0" b="-117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13435" y="5860923"/>
            <a:ext cx="389382" cy="389382"/>
            <a:chOff x="0" y="0"/>
            <a:chExt cx="519176" cy="51917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9176" cy="519176"/>
            </a:xfrm>
            <a:custGeom>
              <a:avLst/>
              <a:gdLst/>
              <a:ahLst/>
              <a:cxnLst/>
              <a:rect r="r" b="b" t="t" l="l"/>
              <a:pathLst>
                <a:path h="519176" w="519176">
                  <a:moveTo>
                    <a:pt x="0" y="259588"/>
                  </a:moveTo>
                  <a:cubicBezTo>
                    <a:pt x="0" y="116205"/>
                    <a:pt x="116205" y="0"/>
                    <a:pt x="259588" y="0"/>
                  </a:cubicBezTo>
                  <a:cubicBezTo>
                    <a:pt x="402971" y="0"/>
                    <a:pt x="519176" y="116205"/>
                    <a:pt x="519176" y="259588"/>
                  </a:cubicBezTo>
                  <a:cubicBezTo>
                    <a:pt x="519176" y="402971"/>
                    <a:pt x="402971" y="519176"/>
                    <a:pt x="259588" y="519176"/>
                  </a:cubicBezTo>
                  <a:cubicBezTo>
                    <a:pt x="116205" y="519176"/>
                    <a:pt x="0" y="402971"/>
                    <a:pt x="0" y="259588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5870448"/>
            <a:ext cx="370332" cy="370332"/>
            <a:chOff x="0" y="0"/>
            <a:chExt cx="493776" cy="4937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93776" cy="512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16736" y="5856732"/>
            <a:ext cx="3703320" cy="411480"/>
            <a:chOff x="0" y="0"/>
            <a:chExt cx="493776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9377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Stress Lab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800600" y="5856732"/>
            <a:ext cx="4251960" cy="411480"/>
            <a:chOff x="0" y="0"/>
            <a:chExt cx="566928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669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revaluation · Shapley · reverse stress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6323076"/>
            <a:ext cx="8229600" cy="3182112"/>
            <a:chOff x="0" y="0"/>
            <a:chExt cx="10972800" cy="4242816"/>
          </a:xfrm>
        </p:grpSpPr>
        <p:sp>
          <p:nvSpPr>
            <p:cNvPr name="Freeform 49" id="49" descr="Stress Lab flowchart"/>
            <p:cNvSpPr/>
            <p:nvPr/>
          </p:nvSpPr>
          <p:spPr>
            <a:xfrm flipH="false" flipV="false" rot="0">
              <a:off x="0" y="0"/>
              <a:ext cx="10972800" cy="4242816"/>
            </a:xfrm>
            <a:custGeom>
              <a:avLst/>
              <a:gdLst/>
              <a:ahLst/>
              <a:cxnLst/>
              <a:rect r="r" b="b" t="t" l="l"/>
              <a:pathLst>
                <a:path h="42428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42816"/>
                  </a:lnTo>
                  <a:lnTo>
                    <a:pt x="0" y="4242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7" r="0" b="-117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21343" y="5860923"/>
            <a:ext cx="389382" cy="389382"/>
            <a:chOff x="0" y="0"/>
            <a:chExt cx="519176" cy="5191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9176" cy="519176"/>
            </a:xfrm>
            <a:custGeom>
              <a:avLst/>
              <a:gdLst/>
              <a:ahLst/>
              <a:cxnLst/>
              <a:rect r="r" b="b" t="t" l="l"/>
              <a:pathLst>
                <a:path h="519176" w="519176">
                  <a:moveTo>
                    <a:pt x="0" y="259588"/>
                  </a:moveTo>
                  <a:cubicBezTo>
                    <a:pt x="0" y="116205"/>
                    <a:pt x="116205" y="0"/>
                    <a:pt x="259588" y="0"/>
                  </a:cubicBezTo>
                  <a:cubicBezTo>
                    <a:pt x="402971" y="0"/>
                    <a:pt x="519176" y="116205"/>
                    <a:pt x="519176" y="259588"/>
                  </a:cubicBezTo>
                  <a:cubicBezTo>
                    <a:pt x="519176" y="402971"/>
                    <a:pt x="402971" y="519176"/>
                    <a:pt x="259588" y="519176"/>
                  </a:cubicBezTo>
                  <a:cubicBezTo>
                    <a:pt x="116205" y="519176"/>
                    <a:pt x="0" y="402971"/>
                    <a:pt x="0" y="259588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230868" y="5870448"/>
            <a:ext cx="370332" cy="370332"/>
            <a:chOff x="0" y="0"/>
            <a:chExt cx="493776" cy="49377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3776" cy="493776"/>
            </a:xfrm>
            <a:custGeom>
              <a:avLst/>
              <a:gdLst/>
              <a:ahLst/>
              <a:cxnLst/>
              <a:rect r="r" b="b" t="t" l="l"/>
              <a:pathLst>
                <a:path h="49377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93776" cy="512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24644" y="5856732"/>
            <a:ext cx="3703320" cy="411480"/>
            <a:chOff x="0" y="0"/>
            <a:chExt cx="493776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49377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Adaptive Index + audit ledger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208508" y="5856732"/>
            <a:ext cx="4251960" cy="411480"/>
            <a:chOff x="0" y="0"/>
            <a:chExt cx="566928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669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caps · deadband · SHA-256 hash chain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230868" y="6323076"/>
            <a:ext cx="8229600" cy="3182112"/>
            <a:chOff x="0" y="0"/>
            <a:chExt cx="10972800" cy="4242816"/>
          </a:xfrm>
        </p:grpSpPr>
        <p:sp>
          <p:nvSpPr>
            <p:cNvPr name="Freeform 62" id="62" descr="Adaptive Index + audit ledger flowchart"/>
            <p:cNvSpPr/>
            <p:nvPr/>
          </p:nvSpPr>
          <p:spPr>
            <a:xfrm flipH="false" flipV="false" rot="0">
              <a:off x="0" y="0"/>
              <a:ext cx="10972800" cy="4242816"/>
            </a:xfrm>
            <a:custGeom>
              <a:avLst/>
              <a:gdLst/>
              <a:ahLst/>
              <a:cxnLst/>
              <a:rect r="r" b="b" t="t" l="l"/>
              <a:pathLst>
                <a:path h="42428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242816"/>
                  </a:lnTo>
                  <a:lnTo>
                    <a:pt x="0" y="4242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17" r="0" b="-117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6824960" y="9782937"/>
            <a:ext cx="544068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663557"/>
            <a:ext cx="19175593" cy="19175593"/>
          </a:xfrm>
          <a:custGeom>
            <a:avLst/>
            <a:gdLst/>
            <a:ahLst/>
            <a:cxnLst/>
            <a:rect r="r" b="b" t="t" l="l"/>
            <a:pathLst>
              <a:path h="19175593" w="19175593">
                <a:moveTo>
                  <a:pt x="0" y="0"/>
                </a:moveTo>
                <a:lnTo>
                  <a:pt x="19175593" y="0"/>
                </a:lnTo>
                <a:lnTo>
                  <a:pt x="19175593" y="19175593"/>
                </a:lnTo>
                <a:lnTo>
                  <a:pt x="0" y="19175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2940">
            <a:off x="815816" y="9678734"/>
            <a:ext cx="16651805" cy="0"/>
          </a:xfrm>
          <a:prstGeom prst="line">
            <a:avLst/>
          </a:prstGeom>
          <a:ln cap="rnd" w="9525">
            <a:solidFill>
              <a:srgbClr val="D9DC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22960" y="9765792"/>
            <a:ext cx="12344400" cy="342900"/>
            <a:chOff x="0" y="0"/>
            <a:chExt cx="164592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457200"/>
            </a:xfrm>
            <a:custGeom>
              <a:avLst/>
              <a:gdLst/>
              <a:ahLst/>
              <a:cxnLst/>
              <a:rect r="r" b="b" t="t" l="l"/>
              <a:pathLst>
                <a:path h="457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4592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SENTINEL  ·  Chaitenya Chand  ·  IGDTUW  ·  S&amp;P Global &amp; Crisil Campus Hackathon 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66344"/>
            <a:ext cx="10972800" cy="342900"/>
            <a:chOff x="0" y="0"/>
            <a:chExt cx="1463040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630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·  KEY RESULTS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840867"/>
            <a:ext cx="16637508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B1020"/>
                </a:solidFill>
                <a:latin typeface="Cambria Bold"/>
                <a:ea typeface="Cambria Bold"/>
                <a:cs typeface="Cambria Bold"/>
                <a:sym typeface="Cambria Bold"/>
              </a:rPr>
              <a:t>Measured, not claimed: beats naive baselines, with honest error bars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95242" y="1961102"/>
            <a:ext cx="4924616" cy="3100388"/>
            <a:chOff x="0" y="0"/>
            <a:chExt cx="6566154" cy="41338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6154" cy="4133850"/>
            </a:xfrm>
            <a:custGeom>
              <a:avLst/>
              <a:gdLst/>
              <a:ahLst/>
              <a:cxnLst/>
              <a:rect r="r" b="b" t="t" l="l"/>
              <a:pathLst>
                <a:path h="4133850" w="6566154">
                  <a:moveTo>
                    <a:pt x="0" y="0"/>
                  </a:moveTo>
                  <a:lnTo>
                    <a:pt x="6566154" y="0"/>
                  </a:lnTo>
                  <a:lnTo>
                    <a:pt x="6566154" y="4133850"/>
                  </a:lnTo>
                  <a:lnTo>
                    <a:pt x="0" y="41338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988820"/>
            <a:ext cx="4869180" cy="3044952"/>
            <a:chOff x="0" y="0"/>
            <a:chExt cx="6492240" cy="4059936"/>
          </a:xfrm>
        </p:grpSpPr>
        <p:sp>
          <p:nvSpPr>
            <p:cNvPr name="Freeform 14" id="14" descr="PRECEDENT: analog events, fan chart, calibrated shocks"/>
            <p:cNvSpPr/>
            <p:nvPr/>
          </p:nvSpPr>
          <p:spPr>
            <a:xfrm flipH="false" flipV="false" rot="0">
              <a:off x="0" y="0"/>
              <a:ext cx="6492240" cy="4059936"/>
            </a:xfrm>
            <a:custGeom>
              <a:avLst/>
              <a:gdLst/>
              <a:ahLst/>
              <a:cxnLst/>
              <a:rect r="r" b="b" t="t" l="l"/>
              <a:pathLst>
                <a:path h="405993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059936"/>
                  </a:lnTo>
                  <a:lnTo>
                    <a:pt x="0" y="405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8" t="0" r="-28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5088636"/>
            <a:ext cx="4869180" cy="342900"/>
            <a:chOff x="0" y="0"/>
            <a:chExt cx="649224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92240" cy="457200"/>
            </a:xfrm>
            <a:custGeom>
              <a:avLst/>
              <a:gdLst/>
              <a:ahLst/>
              <a:cxnLst/>
              <a:rect r="r" b="b" t="t" l="l"/>
              <a:pathLst>
                <a:path h="4572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687" r="0" b="-2266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49224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PRECEDENT: analog events, fan chart, calibrated shocks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01582" y="1961102"/>
            <a:ext cx="4924616" cy="3100388"/>
            <a:chOff x="0" y="0"/>
            <a:chExt cx="6566154" cy="41338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66154" cy="4133850"/>
            </a:xfrm>
            <a:custGeom>
              <a:avLst/>
              <a:gdLst/>
              <a:ahLst/>
              <a:cxnLst/>
              <a:rect r="r" b="b" t="t" l="l"/>
              <a:pathLst>
                <a:path h="4133850" w="6566154">
                  <a:moveTo>
                    <a:pt x="0" y="0"/>
                  </a:moveTo>
                  <a:lnTo>
                    <a:pt x="6566154" y="0"/>
                  </a:lnTo>
                  <a:lnTo>
                    <a:pt x="6566154" y="4133850"/>
                  </a:lnTo>
                  <a:lnTo>
                    <a:pt x="0" y="41338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829300" y="1988820"/>
            <a:ext cx="4869180" cy="3044952"/>
            <a:chOff x="0" y="0"/>
            <a:chExt cx="6492240" cy="4059936"/>
          </a:xfrm>
        </p:grpSpPr>
        <p:sp>
          <p:nvSpPr>
            <p:cNvPr name="Freeform 21" id="21" descr="Stress Lab: Crimea scenario, about −$44M on a $10.5B book"/>
            <p:cNvSpPr/>
            <p:nvPr/>
          </p:nvSpPr>
          <p:spPr>
            <a:xfrm flipH="false" flipV="false" rot="0">
              <a:off x="0" y="0"/>
              <a:ext cx="6492240" cy="4059936"/>
            </a:xfrm>
            <a:custGeom>
              <a:avLst/>
              <a:gdLst/>
              <a:ahLst/>
              <a:cxnLst/>
              <a:rect r="r" b="b" t="t" l="l"/>
              <a:pathLst>
                <a:path h="405993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059936"/>
                  </a:lnTo>
                  <a:lnTo>
                    <a:pt x="0" y="405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" t="0" r="-28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829300" y="5088636"/>
            <a:ext cx="4869180" cy="342900"/>
            <a:chOff x="0" y="0"/>
            <a:chExt cx="6492240" cy="45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92240" cy="457200"/>
            </a:xfrm>
            <a:custGeom>
              <a:avLst/>
              <a:gdLst/>
              <a:ahLst/>
              <a:cxnLst/>
              <a:rect r="r" b="b" t="t" l="l"/>
              <a:pathLst>
                <a:path h="4572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687" r="0" b="-22668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49224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Stress Lab: Crimea scenario, about −$44M on a $10.5B book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5242" y="5431250"/>
            <a:ext cx="4924616" cy="3100388"/>
            <a:chOff x="0" y="0"/>
            <a:chExt cx="6566154" cy="41338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66154" cy="4133850"/>
            </a:xfrm>
            <a:custGeom>
              <a:avLst/>
              <a:gdLst/>
              <a:ahLst/>
              <a:cxnLst/>
              <a:rect r="r" b="b" t="t" l="l"/>
              <a:pathLst>
                <a:path h="4133850" w="6566154">
                  <a:moveTo>
                    <a:pt x="0" y="0"/>
                  </a:moveTo>
                  <a:lnTo>
                    <a:pt x="6566154" y="0"/>
                  </a:lnTo>
                  <a:lnTo>
                    <a:pt x="6566154" y="4133850"/>
                  </a:lnTo>
                  <a:lnTo>
                    <a:pt x="0" y="41338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5458968"/>
            <a:ext cx="4869180" cy="3044952"/>
            <a:chOff x="0" y="0"/>
            <a:chExt cx="6492240" cy="4059936"/>
          </a:xfrm>
        </p:grpSpPr>
        <p:sp>
          <p:nvSpPr>
            <p:cNvPr name="Freeform 28" id="28" descr="Adaptive Index: weights, 15.0% turnover vs 58.5% naive"/>
            <p:cNvSpPr/>
            <p:nvPr/>
          </p:nvSpPr>
          <p:spPr>
            <a:xfrm flipH="false" flipV="false" rot="0">
              <a:off x="0" y="0"/>
              <a:ext cx="6492240" cy="4059936"/>
            </a:xfrm>
            <a:custGeom>
              <a:avLst/>
              <a:gdLst/>
              <a:ahLst/>
              <a:cxnLst/>
              <a:rect r="r" b="b" t="t" l="l"/>
              <a:pathLst>
                <a:path h="405993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059936"/>
                  </a:lnTo>
                  <a:lnTo>
                    <a:pt x="0" y="405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8" t="0" r="-2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558784"/>
            <a:ext cx="4869180" cy="342900"/>
            <a:chOff x="0" y="0"/>
            <a:chExt cx="6492240" cy="45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92240" cy="457200"/>
            </a:xfrm>
            <a:custGeom>
              <a:avLst/>
              <a:gdLst/>
              <a:ahLst/>
              <a:cxnLst/>
              <a:rect r="r" b="b" t="t" l="l"/>
              <a:pathLst>
                <a:path h="4572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687" r="0" b="-2266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49224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Index: weights, 15.0% turnover vs 58.5% naive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801582" y="5431250"/>
            <a:ext cx="4924616" cy="3100388"/>
            <a:chOff x="0" y="0"/>
            <a:chExt cx="6566154" cy="41338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66154" cy="4133850"/>
            </a:xfrm>
            <a:custGeom>
              <a:avLst/>
              <a:gdLst/>
              <a:ahLst/>
              <a:cxnLst/>
              <a:rect r="r" b="b" t="t" l="l"/>
              <a:pathLst>
                <a:path h="4133850" w="6566154">
                  <a:moveTo>
                    <a:pt x="0" y="0"/>
                  </a:moveTo>
                  <a:lnTo>
                    <a:pt x="6566154" y="0"/>
                  </a:lnTo>
                  <a:lnTo>
                    <a:pt x="6566154" y="4133850"/>
                  </a:lnTo>
                  <a:lnTo>
                    <a:pt x="0" y="41338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829300" y="5458968"/>
            <a:ext cx="4869180" cy="3044952"/>
            <a:chOff x="0" y="0"/>
            <a:chExt cx="6492240" cy="4059936"/>
          </a:xfrm>
        </p:grpSpPr>
        <p:sp>
          <p:nvSpPr>
            <p:cNvPr name="Freeform 35" id="35" descr="Signals: drawer with integrity, analogs, book impact"/>
            <p:cNvSpPr/>
            <p:nvPr/>
          </p:nvSpPr>
          <p:spPr>
            <a:xfrm flipH="false" flipV="false" rot="0">
              <a:off x="0" y="0"/>
              <a:ext cx="6492240" cy="4059936"/>
            </a:xfrm>
            <a:custGeom>
              <a:avLst/>
              <a:gdLst/>
              <a:ahLst/>
              <a:cxnLst/>
              <a:rect r="r" b="b" t="t" l="l"/>
              <a:pathLst>
                <a:path h="405993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059936"/>
                  </a:lnTo>
                  <a:lnTo>
                    <a:pt x="0" y="405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8" t="0" r="-28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829300" y="8558784"/>
            <a:ext cx="4869180" cy="342900"/>
            <a:chOff x="0" y="0"/>
            <a:chExt cx="6492240" cy="457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92240" cy="457200"/>
            </a:xfrm>
            <a:custGeom>
              <a:avLst/>
              <a:gdLst/>
              <a:ahLst/>
              <a:cxnLst/>
              <a:rect r="r" b="b" t="t" l="l"/>
              <a:pathLst>
                <a:path h="4572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687" r="0" b="-22668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49224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Signals: drawer with integrity, analogs, book impact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22960" y="8904732"/>
            <a:ext cx="10012680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i="true">
                <a:solidFill>
                  <a:srgbClr val="5B647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Screenshots are the running app on seeded synthetic demo data (portfolio, prices, signals). The build sandbox had no live-feed access; replay mode uses archived GDELT episodes.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239976" y="1981676"/>
            <a:ext cx="3031808" cy="1413320"/>
            <a:chOff x="0" y="0"/>
            <a:chExt cx="4042410" cy="18844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42410" cy="1884426"/>
            </a:xfrm>
            <a:custGeom>
              <a:avLst/>
              <a:gdLst/>
              <a:ahLst/>
              <a:cxnLst/>
              <a:rect r="r" b="b" t="t" l="l"/>
              <a:pathLst>
                <a:path h="1884426" w="40424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3894582" y="0"/>
                  </a:lnTo>
                  <a:cubicBezTo>
                    <a:pt x="3976243" y="0"/>
                    <a:pt x="4042410" y="66167"/>
                    <a:pt x="4042410" y="147828"/>
                  </a:cubicBezTo>
                  <a:lnTo>
                    <a:pt x="4042410" y="1736598"/>
                  </a:lnTo>
                  <a:cubicBezTo>
                    <a:pt x="4042410" y="1818259"/>
                    <a:pt x="3976243" y="1884426"/>
                    <a:pt x="3894582" y="1884426"/>
                  </a:cubicBezTo>
                  <a:lnTo>
                    <a:pt x="147828" y="1884426"/>
                  </a:lnTo>
                  <a:cubicBezTo>
                    <a:pt x="66167" y="1884426"/>
                    <a:pt x="0" y="1818259"/>
                    <a:pt x="0" y="17365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439144" y="2071116"/>
            <a:ext cx="2674620" cy="617220"/>
            <a:chOff x="0" y="0"/>
            <a:chExt cx="3566160" cy="822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66160" cy="822960"/>
            </a:xfrm>
            <a:custGeom>
              <a:avLst/>
              <a:gdLst/>
              <a:ahLst/>
              <a:cxnLst/>
              <a:rect r="r" b="b" t="t" l="l"/>
              <a:pathLst>
                <a:path h="8229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5661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0.78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439144" y="2674620"/>
            <a:ext cx="2674620" cy="301752"/>
            <a:chOff x="0" y="0"/>
            <a:chExt cx="356616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66160" cy="402336"/>
            </a:xfrm>
            <a:custGeom>
              <a:avLst/>
              <a:gdLst/>
              <a:ahLst/>
              <a:cxnLst/>
              <a:rect r="r" b="b" t="t" l="l"/>
              <a:pathLst>
                <a:path h="40233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56616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Relevance AUC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439144" y="2976372"/>
            <a:ext cx="2715768" cy="301752"/>
            <a:chOff x="0" y="0"/>
            <a:chExt cx="3621024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21024" cy="402336"/>
            </a:xfrm>
            <a:custGeom>
              <a:avLst/>
              <a:gdLst/>
              <a:ahLst/>
              <a:cxnLst/>
              <a:rect r="r" b="b" t="t" l="l"/>
              <a:pathLst>
                <a:path h="402336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621024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naive rules-only: 0.56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435804" y="1981676"/>
            <a:ext cx="3031808" cy="1413320"/>
            <a:chOff x="0" y="0"/>
            <a:chExt cx="4042410" cy="188442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42410" cy="1884426"/>
            </a:xfrm>
            <a:custGeom>
              <a:avLst/>
              <a:gdLst/>
              <a:ahLst/>
              <a:cxnLst/>
              <a:rect r="r" b="b" t="t" l="l"/>
              <a:pathLst>
                <a:path h="1884426" w="40424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3894582" y="0"/>
                  </a:lnTo>
                  <a:cubicBezTo>
                    <a:pt x="3976243" y="0"/>
                    <a:pt x="4042410" y="66167"/>
                    <a:pt x="4042410" y="147828"/>
                  </a:cubicBezTo>
                  <a:lnTo>
                    <a:pt x="4042410" y="1736598"/>
                  </a:lnTo>
                  <a:cubicBezTo>
                    <a:pt x="4042410" y="1818259"/>
                    <a:pt x="3976243" y="1884426"/>
                    <a:pt x="3894582" y="1884426"/>
                  </a:cubicBezTo>
                  <a:lnTo>
                    <a:pt x="147828" y="1884426"/>
                  </a:lnTo>
                  <a:cubicBezTo>
                    <a:pt x="66167" y="1884426"/>
                    <a:pt x="0" y="1818259"/>
                    <a:pt x="0" y="17365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634972" y="2071116"/>
            <a:ext cx="2674620" cy="617220"/>
            <a:chOff x="0" y="0"/>
            <a:chExt cx="3566160" cy="822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566160" cy="822960"/>
            </a:xfrm>
            <a:custGeom>
              <a:avLst/>
              <a:gdLst/>
              <a:ahLst/>
              <a:cxnLst/>
              <a:rect r="r" b="b" t="t" l="l"/>
              <a:pathLst>
                <a:path h="8229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5661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55%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634972" y="2674620"/>
            <a:ext cx="2674620" cy="301752"/>
            <a:chOff x="0" y="0"/>
            <a:chExt cx="3566160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566160" cy="402336"/>
            </a:xfrm>
            <a:custGeom>
              <a:avLst/>
              <a:gdLst/>
              <a:ahLst/>
              <a:cxnLst/>
              <a:rect r="r" b="b" t="t" l="l"/>
              <a:pathLst>
                <a:path h="40233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56616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Sentiment accuracy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634972" y="2976372"/>
            <a:ext cx="2715768" cy="301752"/>
            <a:chOff x="0" y="0"/>
            <a:chExt cx="3621024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21024" cy="402336"/>
            </a:xfrm>
            <a:custGeom>
              <a:avLst/>
              <a:gdLst/>
              <a:ahLst/>
              <a:cxnLst/>
              <a:rect r="r" b="b" t="t" l="l"/>
              <a:pathLst>
                <a:path h="402336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621024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majority-class baseline: 41%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39976" y="3559016"/>
            <a:ext cx="3031808" cy="1413320"/>
            <a:chOff x="0" y="0"/>
            <a:chExt cx="4042410" cy="188442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42410" cy="1884426"/>
            </a:xfrm>
            <a:custGeom>
              <a:avLst/>
              <a:gdLst/>
              <a:ahLst/>
              <a:cxnLst/>
              <a:rect r="r" b="b" t="t" l="l"/>
              <a:pathLst>
                <a:path h="1884426" w="40424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3894582" y="0"/>
                  </a:lnTo>
                  <a:cubicBezTo>
                    <a:pt x="3976243" y="0"/>
                    <a:pt x="4042410" y="66167"/>
                    <a:pt x="4042410" y="147828"/>
                  </a:cubicBezTo>
                  <a:lnTo>
                    <a:pt x="4042410" y="1736598"/>
                  </a:lnTo>
                  <a:cubicBezTo>
                    <a:pt x="4042410" y="1818259"/>
                    <a:pt x="3976243" y="1884426"/>
                    <a:pt x="3894582" y="1884426"/>
                  </a:cubicBezTo>
                  <a:lnTo>
                    <a:pt x="147828" y="1884426"/>
                  </a:lnTo>
                  <a:cubicBezTo>
                    <a:pt x="66167" y="1884426"/>
                    <a:pt x="0" y="1818259"/>
                    <a:pt x="0" y="17365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439144" y="3648456"/>
            <a:ext cx="2674620" cy="617220"/>
            <a:chOff x="0" y="0"/>
            <a:chExt cx="356616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66160" cy="822960"/>
            </a:xfrm>
            <a:custGeom>
              <a:avLst/>
              <a:gdLst/>
              <a:ahLst/>
              <a:cxnLst/>
              <a:rect r="r" b="b" t="t" l="l"/>
              <a:pathLst>
                <a:path h="8229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5661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439144" y="4251960"/>
            <a:ext cx="2674620" cy="301752"/>
            <a:chOff x="0" y="0"/>
            <a:chExt cx="3566160" cy="402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66160" cy="402336"/>
            </a:xfrm>
            <a:custGeom>
              <a:avLst/>
              <a:gdLst/>
              <a:ahLst/>
              <a:cxnLst/>
              <a:rect r="r" b="b" t="t" l="l"/>
              <a:pathLst>
                <a:path h="40233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356616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 turnover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439144" y="4553712"/>
            <a:ext cx="2715768" cy="301752"/>
            <a:chOff x="0" y="0"/>
            <a:chExt cx="3621024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21024" cy="402336"/>
            </a:xfrm>
            <a:custGeom>
              <a:avLst/>
              <a:gdLst/>
              <a:ahLst/>
              <a:cxnLst/>
              <a:rect r="r" b="b" t="t" l="l"/>
              <a:pathLst>
                <a:path h="402336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621024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naive rebalance: 58.5%*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435804" y="3559016"/>
            <a:ext cx="3031808" cy="1413320"/>
            <a:chOff x="0" y="0"/>
            <a:chExt cx="4042410" cy="188442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042410" cy="1884426"/>
            </a:xfrm>
            <a:custGeom>
              <a:avLst/>
              <a:gdLst/>
              <a:ahLst/>
              <a:cxnLst/>
              <a:rect r="r" b="b" t="t" l="l"/>
              <a:pathLst>
                <a:path h="1884426" w="40424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3894582" y="0"/>
                  </a:lnTo>
                  <a:cubicBezTo>
                    <a:pt x="3976243" y="0"/>
                    <a:pt x="4042410" y="66167"/>
                    <a:pt x="4042410" y="147828"/>
                  </a:cubicBezTo>
                  <a:lnTo>
                    <a:pt x="4042410" y="1736598"/>
                  </a:lnTo>
                  <a:cubicBezTo>
                    <a:pt x="4042410" y="1818259"/>
                    <a:pt x="3976243" y="1884426"/>
                    <a:pt x="3894582" y="1884426"/>
                  </a:cubicBezTo>
                  <a:lnTo>
                    <a:pt x="147828" y="1884426"/>
                  </a:lnTo>
                  <a:cubicBezTo>
                    <a:pt x="66167" y="1884426"/>
                    <a:pt x="0" y="1818259"/>
                    <a:pt x="0" y="17365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4634972" y="3648456"/>
            <a:ext cx="2674620" cy="617220"/>
            <a:chOff x="0" y="0"/>
            <a:chExt cx="3566160" cy="8229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566160" cy="822960"/>
            </a:xfrm>
            <a:custGeom>
              <a:avLst/>
              <a:gdLst/>
              <a:ahLst/>
              <a:cxnLst/>
              <a:rect r="r" b="b" t="t" l="l"/>
              <a:pathLst>
                <a:path h="8229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35661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0.2 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634972" y="4251960"/>
            <a:ext cx="2674620" cy="301752"/>
            <a:chOff x="0" y="0"/>
            <a:chExt cx="3566160" cy="40233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566160" cy="402336"/>
            </a:xfrm>
            <a:custGeom>
              <a:avLst/>
              <a:gdLst/>
              <a:ahLst/>
              <a:cxnLst/>
              <a:rect r="r" b="b" t="t" l="l"/>
              <a:pathLst>
                <a:path h="40233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356616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stress run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634972" y="4553712"/>
            <a:ext cx="2715768" cy="301752"/>
            <a:chOff x="0" y="0"/>
            <a:chExt cx="3621024" cy="40233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21024" cy="402336"/>
            </a:xfrm>
            <a:custGeom>
              <a:avLst/>
              <a:gdLst/>
              <a:ahLst/>
              <a:cxnLst/>
              <a:rect r="r" b="b" t="t" l="l"/>
              <a:pathLst>
                <a:path h="402336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621024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109 holdings, VaR/ES + Shapley</a:t>
              </a:r>
            </a:p>
          </p:txBody>
        </p:sp>
      </p:grpSp>
      <p:pic>
        <p:nvPicPr>
          <p:cNvPr name="Picture 84" id="8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25785" y="4618177"/>
            <a:ext cx="7456018" cy="4836262"/>
          </a:xfrm>
          <a:prstGeom prst="rect">
            <a:avLst/>
          </a:prstGeom>
        </p:spPr>
      </p:pic>
      <p:sp>
        <p:nvSpPr>
          <p:cNvPr name="TextBox 85" id="85"/>
          <p:cNvSpPr txBox="true"/>
          <p:nvPr/>
        </p:nvSpPr>
        <p:spPr>
          <a:xfrm rot="0">
            <a:off x="11247120" y="8877300"/>
            <a:ext cx="621334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i="true">
                <a:solidFill>
                  <a:srgbClr val="5B647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Held-out set: 29 relevant of 150, F1 95% CI 0.22–0.54. Impact model (5,825 8-K events): MAE 0.0187 vs 0.0195 baseline, Spearman 0.33. *30-day backfill, synthetic prices.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6824960" y="9782937"/>
            <a:ext cx="544068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663557"/>
            <a:ext cx="19175593" cy="19175593"/>
          </a:xfrm>
          <a:custGeom>
            <a:avLst/>
            <a:gdLst/>
            <a:ahLst/>
            <a:cxnLst/>
            <a:rect r="r" b="b" t="t" l="l"/>
            <a:pathLst>
              <a:path h="19175593" w="19175593">
                <a:moveTo>
                  <a:pt x="0" y="0"/>
                </a:moveTo>
                <a:lnTo>
                  <a:pt x="19175593" y="0"/>
                </a:lnTo>
                <a:lnTo>
                  <a:pt x="19175593" y="19175593"/>
                </a:lnTo>
                <a:lnTo>
                  <a:pt x="0" y="19175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2940">
            <a:off x="815816" y="9678734"/>
            <a:ext cx="16651805" cy="0"/>
          </a:xfrm>
          <a:prstGeom prst="line">
            <a:avLst/>
          </a:prstGeom>
          <a:ln cap="rnd" w="9525">
            <a:solidFill>
              <a:srgbClr val="D9DC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22960" y="9765792"/>
            <a:ext cx="12344400" cy="342900"/>
            <a:chOff x="0" y="0"/>
            <a:chExt cx="164592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457200"/>
            </a:xfrm>
            <a:custGeom>
              <a:avLst/>
              <a:gdLst/>
              <a:ahLst/>
              <a:cxnLst/>
              <a:rect r="r" b="b" t="t" l="l"/>
              <a:pathLst>
                <a:path h="457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4592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SENTINEL  ·  Chaitenya Chand  ·  IGDTUW  ·  S&amp;P Global &amp; Crisil Campus Hackathon 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66344"/>
            <a:ext cx="10972800" cy="342900"/>
            <a:chOff x="0" y="0"/>
            <a:chExt cx="1463040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630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·  DOMAIN IMPACT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840867"/>
            <a:ext cx="16637508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B1020"/>
                </a:solidFill>
                <a:latin typeface="Cambria Bold"/>
                <a:ea typeface="Cambria Bold"/>
                <a:cs typeface="Cambria Bold"/>
                <a:sym typeface="Cambria Bold"/>
              </a:rPr>
              <a:t>From headline to defensible decision, for ratings, index and risk teams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5816" y="2050256"/>
            <a:ext cx="8723948" cy="2140267"/>
            <a:chOff x="0" y="0"/>
            <a:chExt cx="11631930" cy="2853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31930" cy="2853690"/>
            </a:xfrm>
            <a:custGeom>
              <a:avLst/>
              <a:gdLst/>
              <a:ahLst/>
              <a:cxnLst/>
              <a:rect r="r" b="b" t="t" l="l"/>
              <a:pathLst>
                <a:path h="2853690" w="1163193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1484610" y="0"/>
                  </a:lnTo>
                  <a:cubicBezTo>
                    <a:pt x="11565890" y="0"/>
                    <a:pt x="11631930" y="65913"/>
                    <a:pt x="11631930" y="147320"/>
                  </a:cubicBezTo>
                  <a:lnTo>
                    <a:pt x="11631930" y="2706370"/>
                  </a:lnTo>
                  <a:cubicBezTo>
                    <a:pt x="11631930" y="2787650"/>
                    <a:pt x="11566017" y="2853690"/>
                    <a:pt x="11484610" y="2853690"/>
                  </a:cubicBezTo>
                  <a:lnTo>
                    <a:pt x="147320" y="2853690"/>
                  </a:lnTo>
                  <a:cubicBezTo>
                    <a:pt x="66040" y="2853690"/>
                    <a:pt x="0" y="2787777"/>
                    <a:pt x="0" y="270637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87755" y="2294763"/>
            <a:ext cx="773430" cy="773430"/>
            <a:chOff x="0" y="0"/>
            <a:chExt cx="1031240" cy="1031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78331" y="2485339"/>
            <a:ext cx="392278" cy="392278"/>
            <a:chOff x="0" y="0"/>
            <a:chExt cx="523037" cy="52303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25980" y="2221992"/>
            <a:ext cx="7269480" cy="411480"/>
            <a:chOff x="0" y="0"/>
            <a:chExt cx="969264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692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Credit &amp; ratings surveillance analyst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25980" y="2669286"/>
            <a:ext cx="72009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5B647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Today  </a:t>
            </a: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Scans feeds and judges severity from memory.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C810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 SENTINEL  </a:t>
            </a:r>
            <a:r>
              <a:rPr lang="en-US" sz="1575">
                <a:solidFill>
                  <a:srgbClr val="0B1020"/>
                </a:solidFill>
                <a:latin typeface="Calibri (MS)"/>
                <a:ea typeface="Calibri (MS)"/>
                <a:cs typeface="Calibri (MS)"/>
                <a:sym typeface="Calibri (MS)"/>
              </a:rPr>
              <a:t>Relevance-gated signals ranked 1–10, with historical analogs and an integrity score.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125980" y="3662172"/>
            <a:ext cx="4526280" cy="370332"/>
            <a:chOff x="0" y="0"/>
            <a:chExt cx="6035040" cy="4937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35040" cy="493776"/>
            </a:xfrm>
            <a:custGeom>
              <a:avLst/>
              <a:gdLst/>
              <a:ahLst/>
              <a:cxnLst/>
              <a:rect r="r" b="b" t="t" l="l"/>
              <a:pathLst>
                <a:path h="4937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F3F4F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035040" cy="53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Earlier, evidence-backed watchlist calls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15816" y="4354544"/>
            <a:ext cx="8723948" cy="2140267"/>
            <a:chOff x="0" y="0"/>
            <a:chExt cx="11631930" cy="28536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631930" cy="2853690"/>
            </a:xfrm>
            <a:custGeom>
              <a:avLst/>
              <a:gdLst/>
              <a:ahLst/>
              <a:cxnLst/>
              <a:rect r="r" b="b" t="t" l="l"/>
              <a:pathLst>
                <a:path h="2853690" w="1163193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1484610" y="0"/>
                  </a:lnTo>
                  <a:cubicBezTo>
                    <a:pt x="11565890" y="0"/>
                    <a:pt x="11631930" y="65913"/>
                    <a:pt x="11631930" y="147320"/>
                  </a:cubicBezTo>
                  <a:lnTo>
                    <a:pt x="11631930" y="2706370"/>
                  </a:lnTo>
                  <a:cubicBezTo>
                    <a:pt x="11631930" y="2787650"/>
                    <a:pt x="11566017" y="2853690"/>
                    <a:pt x="11484610" y="2853690"/>
                  </a:cubicBezTo>
                  <a:lnTo>
                    <a:pt x="147320" y="2853690"/>
                  </a:lnTo>
                  <a:cubicBezTo>
                    <a:pt x="66040" y="2853690"/>
                    <a:pt x="0" y="2787777"/>
                    <a:pt x="0" y="270637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87755" y="4599051"/>
            <a:ext cx="773430" cy="773430"/>
            <a:chOff x="0" y="0"/>
            <a:chExt cx="1031240" cy="1031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0F7B6C"/>
            </a:solidFill>
            <a:ln w="19050" cap="sq">
              <a:solidFill>
                <a:srgbClr val="0F7B6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78331" y="4789627"/>
            <a:ext cx="392278" cy="392278"/>
            <a:chOff x="0" y="0"/>
            <a:chExt cx="523037" cy="523037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125980" y="4526280"/>
            <a:ext cx="7269480" cy="411480"/>
            <a:chOff x="0" y="0"/>
            <a:chExt cx="969264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692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Index and portfolio manager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125980" y="4973574"/>
            <a:ext cx="72009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5B647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Today  </a:t>
            </a: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Rebalances by hand after events.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7B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 SENTINEL  </a:t>
            </a:r>
            <a:r>
              <a:rPr lang="en-US" sz="1575">
                <a:solidFill>
                  <a:srgbClr val="0B1020"/>
                </a:solidFill>
                <a:latin typeface="Calibri (MS)"/>
                <a:ea typeface="Calibri (MS)"/>
                <a:cs typeface="Calibri (MS)"/>
                <a:sym typeface="Calibri (MS)"/>
              </a:rPr>
              <a:t>Signal-tilted weights inside caps, optional PM approval. Demo: 15% vs 58.5% naive turnover.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125980" y="5966460"/>
            <a:ext cx="4526280" cy="370332"/>
            <a:chOff x="0" y="0"/>
            <a:chExt cx="6035040" cy="4937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35040" cy="493776"/>
            </a:xfrm>
            <a:custGeom>
              <a:avLst/>
              <a:gdLst/>
              <a:ahLst/>
              <a:cxnLst/>
              <a:rect r="r" b="b" t="t" l="l"/>
              <a:pathLst>
                <a:path h="4937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F3F4F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35040" cy="53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F7B6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Lower turnover, same discipline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15816" y="6658832"/>
            <a:ext cx="8723948" cy="2140267"/>
            <a:chOff x="0" y="0"/>
            <a:chExt cx="11631930" cy="28536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631930" cy="2853690"/>
            </a:xfrm>
            <a:custGeom>
              <a:avLst/>
              <a:gdLst/>
              <a:ahLst/>
              <a:cxnLst/>
              <a:rect r="r" b="b" t="t" l="l"/>
              <a:pathLst>
                <a:path h="2853690" w="1163193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1484610" y="0"/>
                  </a:lnTo>
                  <a:cubicBezTo>
                    <a:pt x="11565890" y="0"/>
                    <a:pt x="11631930" y="65913"/>
                    <a:pt x="11631930" y="147320"/>
                  </a:cubicBezTo>
                  <a:lnTo>
                    <a:pt x="11631930" y="2706370"/>
                  </a:lnTo>
                  <a:cubicBezTo>
                    <a:pt x="11631930" y="2787650"/>
                    <a:pt x="11566017" y="2853690"/>
                    <a:pt x="11484610" y="2853690"/>
                  </a:cubicBezTo>
                  <a:lnTo>
                    <a:pt x="147320" y="2853690"/>
                  </a:lnTo>
                  <a:cubicBezTo>
                    <a:pt x="66040" y="2853690"/>
                    <a:pt x="0" y="2787777"/>
                    <a:pt x="0" y="270637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87755" y="6903339"/>
            <a:ext cx="773430" cy="773430"/>
            <a:chOff x="0" y="0"/>
            <a:chExt cx="1031240" cy="1031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2B4C8C"/>
            </a:solidFill>
            <a:ln w="19050" cap="sq">
              <a:solidFill>
                <a:srgbClr val="2B4C8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78331" y="7093915"/>
            <a:ext cx="392278" cy="392278"/>
            <a:chOff x="0" y="0"/>
            <a:chExt cx="523037" cy="523037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125980" y="6830568"/>
            <a:ext cx="7269480" cy="411480"/>
            <a:chOff x="0" y="0"/>
            <a:chExt cx="969264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9692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Risk &amp; compliance officer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2125980" y="7277862"/>
            <a:ext cx="72009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5B647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Today  </a:t>
            </a: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Runs what-ifs in spreadsheets; hard to prove who changed what.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B4C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 SENTINEL  </a:t>
            </a:r>
            <a:r>
              <a:rPr lang="en-US" sz="1575">
                <a:solidFill>
                  <a:srgbClr val="0B1020"/>
                </a:solidFill>
                <a:latin typeface="Calibri (MS)"/>
                <a:ea typeface="Calibri (MS)"/>
                <a:cs typeface="Calibri (MS)"/>
                <a:sym typeface="Calibri (MS)"/>
              </a:rPr>
              <a:t>Stress runs with VaR/ES and Shapley attribution; audit chain verifies 362 entries in about 17 ms.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2125980" y="8270748"/>
            <a:ext cx="4526280" cy="370332"/>
            <a:chOff x="0" y="0"/>
            <a:chExt cx="6035040" cy="4937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35040" cy="493776"/>
            </a:xfrm>
            <a:custGeom>
              <a:avLst/>
              <a:gdLst/>
              <a:ahLst/>
              <a:cxnLst/>
              <a:rect r="r" b="b" t="t" l="l"/>
              <a:pathLst>
                <a:path h="4937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F3F4F7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035040" cy="53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B4C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Audit-ready by design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12680" y="2084832"/>
            <a:ext cx="6858000" cy="342900"/>
            <a:chOff x="0" y="0"/>
            <a:chExt cx="9144000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91440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IT PLUGS IN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1722000">
            <a:off x="11677536" y="4756785"/>
            <a:ext cx="2211562" cy="0"/>
          </a:xfrm>
          <a:prstGeom prst="line">
            <a:avLst/>
          </a:prstGeom>
          <a:ln cap="rnd" w="19050">
            <a:solidFill>
              <a:srgbClr val="C810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rot="-1722000">
            <a:off x="13584060" y="4756785"/>
            <a:ext cx="2211562" cy="0"/>
          </a:xfrm>
          <a:prstGeom prst="line">
            <a:avLst/>
          </a:prstGeom>
          <a:ln cap="rnd" w="19050">
            <a:solidFill>
              <a:srgbClr val="0F7B6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rot="-2587080">
            <a:off x="11454546" y="6162675"/>
            <a:ext cx="2657523" cy="0"/>
          </a:xfrm>
          <a:prstGeom prst="line">
            <a:avLst/>
          </a:prstGeom>
          <a:ln cap="rnd" w="19050">
            <a:solidFill>
              <a:srgbClr val="2B4C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rot="2587080">
            <a:off x="13361070" y="6162675"/>
            <a:ext cx="2657523" cy="0"/>
          </a:xfrm>
          <a:prstGeom prst="line">
            <a:avLst/>
          </a:prstGeom>
          <a:ln cap="rnd" w="19050">
            <a:solidFill>
              <a:srgbClr val="B7791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10005536" y="2667476"/>
            <a:ext cx="3649028" cy="1591627"/>
            <a:chOff x="0" y="0"/>
            <a:chExt cx="4865370" cy="212217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65370" cy="2122170"/>
            </a:xfrm>
            <a:custGeom>
              <a:avLst/>
              <a:gdLst/>
              <a:ahLst/>
              <a:cxnLst/>
              <a:rect r="r" b="b" t="t" l="l"/>
              <a:pathLst>
                <a:path h="2122170" w="4865370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4717669" y="0"/>
                  </a:lnTo>
                  <a:cubicBezTo>
                    <a:pt x="4799203" y="0"/>
                    <a:pt x="4865370" y="66040"/>
                    <a:pt x="4865370" y="147701"/>
                  </a:cubicBezTo>
                  <a:lnTo>
                    <a:pt x="4865370" y="1974469"/>
                  </a:lnTo>
                  <a:cubicBezTo>
                    <a:pt x="4865370" y="2056003"/>
                    <a:pt x="4799330" y="2122170"/>
                    <a:pt x="4717669" y="2122170"/>
                  </a:cubicBezTo>
                  <a:lnTo>
                    <a:pt x="147701" y="2122170"/>
                  </a:lnTo>
                  <a:cubicBezTo>
                    <a:pt x="66040" y="2122170"/>
                    <a:pt x="0" y="2056130"/>
                    <a:pt x="0" y="197446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003155" y="2829687"/>
            <a:ext cx="101346" cy="1267206"/>
            <a:chOff x="0" y="0"/>
            <a:chExt cx="135128" cy="16896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5128" cy="1689608"/>
            </a:xfrm>
            <a:custGeom>
              <a:avLst/>
              <a:gdLst/>
              <a:ahLst/>
              <a:cxnLst/>
              <a:rect r="r" b="b" t="t" l="l"/>
              <a:pathLst>
                <a:path h="1689608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1689608"/>
                  </a:lnTo>
                  <a:lnTo>
                    <a:pt x="0" y="1689608"/>
                  </a:ln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287000" y="2866644"/>
            <a:ext cx="3223260" cy="411480"/>
            <a:chOff x="0" y="0"/>
            <a:chExt cx="429768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9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4297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Credit ratings surveillance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287000" y="3313938"/>
            <a:ext cx="322326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early warning on issuers and sectors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3818584" y="2667476"/>
            <a:ext cx="3649028" cy="1591627"/>
            <a:chOff x="0" y="0"/>
            <a:chExt cx="4865370" cy="212217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65370" cy="2122170"/>
            </a:xfrm>
            <a:custGeom>
              <a:avLst/>
              <a:gdLst/>
              <a:ahLst/>
              <a:cxnLst/>
              <a:rect r="r" b="b" t="t" l="l"/>
              <a:pathLst>
                <a:path h="2122170" w="4865370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4717669" y="0"/>
                  </a:lnTo>
                  <a:cubicBezTo>
                    <a:pt x="4799203" y="0"/>
                    <a:pt x="4865370" y="66040"/>
                    <a:pt x="4865370" y="147701"/>
                  </a:cubicBezTo>
                  <a:lnTo>
                    <a:pt x="4865370" y="1974469"/>
                  </a:lnTo>
                  <a:cubicBezTo>
                    <a:pt x="4865370" y="2056003"/>
                    <a:pt x="4799330" y="2122170"/>
                    <a:pt x="4717669" y="2122170"/>
                  </a:cubicBezTo>
                  <a:lnTo>
                    <a:pt x="147701" y="2122170"/>
                  </a:lnTo>
                  <a:cubicBezTo>
                    <a:pt x="66040" y="2122170"/>
                    <a:pt x="0" y="2056130"/>
                    <a:pt x="0" y="197446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3816203" y="2829687"/>
            <a:ext cx="101346" cy="1267206"/>
            <a:chOff x="0" y="0"/>
            <a:chExt cx="135128" cy="168960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5128" cy="1689608"/>
            </a:xfrm>
            <a:custGeom>
              <a:avLst/>
              <a:gdLst/>
              <a:ahLst/>
              <a:cxnLst/>
              <a:rect r="r" b="b" t="t" l="l"/>
              <a:pathLst>
                <a:path h="1689608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1689608"/>
                  </a:lnTo>
                  <a:lnTo>
                    <a:pt x="0" y="1689608"/>
                  </a:lnTo>
                  <a:close/>
                </a:path>
              </a:pathLst>
            </a:custGeom>
            <a:solidFill>
              <a:srgbClr val="0F7B6C"/>
            </a:solidFill>
            <a:ln w="19050" cap="sq">
              <a:solidFill>
                <a:srgbClr val="0F7B6C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4100048" y="2866644"/>
            <a:ext cx="3223260" cy="411480"/>
            <a:chOff x="0" y="0"/>
            <a:chExt cx="429768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9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4297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Index methodology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4100048" y="3313938"/>
            <a:ext cx="322326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adaptive tilt with caps and approval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0005536" y="7056596"/>
            <a:ext cx="3649028" cy="1591627"/>
            <a:chOff x="0" y="0"/>
            <a:chExt cx="4865370" cy="212217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65370" cy="2122170"/>
            </a:xfrm>
            <a:custGeom>
              <a:avLst/>
              <a:gdLst/>
              <a:ahLst/>
              <a:cxnLst/>
              <a:rect r="r" b="b" t="t" l="l"/>
              <a:pathLst>
                <a:path h="2122170" w="4865370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4717669" y="0"/>
                  </a:lnTo>
                  <a:cubicBezTo>
                    <a:pt x="4799203" y="0"/>
                    <a:pt x="4865370" y="66040"/>
                    <a:pt x="4865370" y="147701"/>
                  </a:cubicBezTo>
                  <a:lnTo>
                    <a:pt x="4865370" y="1974469"/>
                  </a:lnTo>
                  <a:cubicBezTo>
                    <a:pt x="4865370" y="2056003"/>
                    <a:pt x="4799330" y="2122170"/>
                    <a:pt x="4717669" y="2122170"/>
                  </a:cubicBezTo>
                  <a:lnTo>
                    <a:pt x="147701" y="2122170"/>
                  </a:lnTo>
                  <a:cubicBezTo>
                    <a:pt x="66040" y="2122170"/>
                    <a:pt x="0" y="2056130"/>
                    <a:pt x="0" y="197446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0003155" y="7218807"/>
            <a:ext cx="101346" cy="1267206"/>
            <a:chOff x="0" y="0"/>
            <a:chExt cx="135128" cy="168960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5128" cy="1689608"/>
            </a:xfrm>
            <a:custGeom>
              <a:avLst/>
              <a:gdLst/>
              <a:ahLst/>
              <a:cxnLst/>
              <a:rect r="r" b="b" t="t" l="l"/>
              <a:pathLst>
                <a:path h="1689608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1689608"/>
                  </a:lnTo>
                  <a:lnTo>
                    <a:pt x="0" y="1689608"/>
                  </a:lnTo>
                  <a:close/>
                </a:path>
              </a:pathLst>
            </a:custGeom>
            <a:solidFill>
              <a:srgbClr val="2B4C8C"/>
            </a:solidFill>
            <a:ln w="19050" cap="sq">
              <a:solidFill>
                <a:srgbClr val="2B4C8C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0287000" y="7255764"/>
            <a:ext cx="3223260" cy="411480"/>
            <a:chOff x="0" y="0"/>
            <a:chExt cx="429768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9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4297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Counterparty exposure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0287000" y="7703058"/>
            <a:ext cx="322326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wholesale book stressed by sector and country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3818584" y="7056596"/>
            <a:ext cx="3649028" cy="1591627"/>
            <a:chOff x="0" y="0"/>
            <a:chExt cx="4865370" cy="212217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65370" cy="2122170"/>
            </a:xfrm>
            <a:custGeom>
              <a:avLst/>
              <a:gdLst/>
              <a:ahLst/>
              <a:cxnLst/>
              <a:rect r="r" b="b" t="t" l="l"/>
              <a:pathLst>
                <a:path h="2122170" w="4865370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4717669" y="0"/>
                  </a:lnTo>
                  <a:cubicBezTo>
                    <a:pt x="4799203" y="0"/>
                    <a:pt x="4865370" y="66040"/>
                    <a:pt x="4865370" y="147701"/>
                  </a:cubicBezTo>
                  <a:lnTo>
                    <a:pt x="4865370" y="1974469"/>
                  </a:lnTo>
                  <a:cubicBezTo>
                    <a:pt x="4865370" y="2056003"/>
                    <a:pt x="4799330" y="2122170"/>
                    <a:pt x="4717669" y="2122170"/>
                  </a:cubicBezTo>
                  <a:lnTo>
                    <a:pt x="147701" y="2122170"/>
                  </a:lnTo>
                  <a:cubicBezTo>
                    <a:pt x="66040" y="2122170"/>
                    <a:pt x="0" y="2056130"/>
                    <a:pt x="0" y="197446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3816203" y="7218807"/>
            <a:ext cx="101346" cy="1267206"/>
            <a:chOff x="0" y="0"/>
            <a:chExt cx="135128" cy="168960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5128" cy="1689608"/>
            </a:xfrm>
            <a:custGeom>
              <a:avLst/>
              <a:gdLst/>
              <a:ahLst/>
              <a:cxnLst/>
              <a:rect r="r" b="b" t="t" l="l"/>
              <a:pathLst>
                <a:path h="1689608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1689608"/>
                  </a:lnTo>
                  <a:lnTo>
                    <a:pt x="0" y="1689608"/>
                  </a:lnTo>
                  <a:close/>
                </a:path>
              </a:pathLst>
            </a:custGeom>
            <a:solidFill>
              <a:srgbClr val="B7791F"/>
            </a:solidFill>
            <a:ln w="19050" cap="sq">
              <a:solidFill>
                <a:srgbClr val="B7791F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100048" y="7255764"/>
            <a:ext cx="3223260" cy="411480"/>
            <a:chOff x="0" y="0"/>
            <a:chExt cx="429768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29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4297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Regulatory &amp; audit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4100048" y="7703058"/>
            <a:ext cx="322326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hash-chained, replayable decisions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2610719" y="4526280"/>
            <a:ext cx="2251710" cy="2251710"/>
            <a:chOff x="0" y="0"/>
            <a:chExt cx="3002280" cy="30022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002280" cy="3002280"/>
            </a:xfrm>
            <a:custGeom>
              <a:avLst/>
              <a:gdLst/>
              <a:ahLst/>
              <a:cxnLst/>
              <a:rect r="r" b="b" t="t" l="l"/>
              <a:pathLst>
                <a:path h="3002280" w="3002280">
                  <a:moveTo>
                    <a:pt x="0" y="1501140"/>
                  </a:moveTo>
                  <a:cubicBezTo>
                    <a:pt x="0" y="672084"/>
                    <a:pt x="672084" y="0"/>
                    <a:pt x="1501140" y="0"/>
                  </a:cubicBezTo>
                  <a:cubicBezTo>
                    <a:pt x="2330196" y="0"/>
                    <a:pt x="3002280" y="672084"/>
                    <a:pt x="3002280" y="1501140"/>
                  </a:cubicBezTo>
                  <a:cubicBezTo>
                    <a:pt x="3002280" y="2330196"/>
                    <a:pt x="2330196" y="3002280"/>
                    <a:pt x="1501140" y="3002280"/>
                  </a:cubicBezTo>
                  <a:cubicBezTo>
                    <a:pt x="672084" y="3002280"/>
                    <a:pt x="0" y="2330196"/>
                    <a:pt x="0" y="1501140"/>
                  </a:cubicBezTo>
                  <a:close/>
                </a:path>
              </a:pathLst>
            </a:custGeom>
            <a:solidFill>
              <a:srgbClr val="0B1020"/>
            </a:solidFill>
            <a:ln w="571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2639294" y="5115782"/>
            <a:ext cx="2194560" cy="480060"/>
            <a:chOff x="0" y="0"/>
            <a:chExt cx="2926080" cy="6400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926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2926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SENTINEL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639294" y="5486876"/>
            <a:ext cx="2194560" cy="617220"/>
            <a:chOff x="0" y="0"/>
            <a:chExt cx="2926080" cy="8229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292608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C9CE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 memory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C9CE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stress + audit</a:t>
              </a:r>
            </a:p>
          </p:txBody>
        </p:sp>
      </p:grpSp>
      <p:sp>
        <p:nvSpPr>
          <p:cNvPr name="TextBox 97" id="97"/>
          <p:cNvSpPr txBox="true"/>
          <p:nvPr/>
        </p:nvSpPr>
        <p:spPr>
          <a:xfrm rot="0">
            <a:off x="10012680" y="8877300"/>
            <a:ext cx="744778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i="true">
                <a:solidFill>
                  <a:srgbClr val="5B647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Illustrative mapping of capabilities to workflows; not a statement about any company's internal systems.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6824960" y="9782937"/>
            <a:ext cx="544068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663557"/>
            <a:ext cx="19175593" cy="19175593"/>
          </a:xfrm>
          <a:custGeom>
            <a:avLst/>
            <a:gdLst/>
            <a:ahLst/>
            <a:cxnLst/>
            <a:rect r="r" b="b" t="t" l="l"/>
            <a:pathLst>
              <a:path h="19175593" w="19175593">
                <a:moveTo>
                  <a:pt x="0" y="0"/>
                </a:moveTo>
                <a:lnTo>
                  <a:pt x="19175593" y="0"/>
                </a:lnTo>
                <a:lnTo>
                  <a:pt x="19175593" y="19175593"/>
                </a:lnTo>
                <a:lnTo>
                  <a:pt x="0" y="19175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2940">
            <a:off x="815816" y="9678734"/>
            <a:ext cx="16651805" cy="0"/>
          </a:xfrm>
          <a:prstGeom prst="line">
            <a:avLst/>
          </a:prstGeom>
          <a:ln cap="rnd" w="9525">
            <a:solidFill>
              <a:srgbClr val="D9DC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22960" y="9765792"/>
            <a:ext cx="12344400" cy="342900"/>
            <a:chOff x="0" y="0"/>
            <a:chExt cx="164592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457200"/>
            </a:xfrm>
            <a:custGeom>
              <a:avLst/>
              <a:gdLst/>
              <a:ahLst/>
              <a:cxnLst/>
              <a:rect r="r" b="b" t="t" l="l"/>
              <a:pathLst>
                <a:path h="457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4592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4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SENTINEL  ·  Chaitenya Chand  ·  IGDTUW  ·  S&amp;P Global &amp; Crisil Campus Hackathon 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66344"/>
            <a:ext cx="10972800" cy="342900"/>
            <a:chOff x="0" y="0"/>
            <a:chExt cx="1463040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630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·  LIMITATIONS &amp; NEXT STEPS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840867"/>
            <a:ext cx="16637508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B1020"/>
                </a:solidFill>
                <a:latin typeface="Cambria Bold"/>
                <a:ea typeface="Cambria Bold"/>
                <a:cs typeface="Cambria Bold"/>
                <a:sym typeface="Cambria Bold"/>
              </a:rPr>
              <a:t>Honest limits today, a clear path to production tomorrow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2084832"/>
            <a:ext cx="8229600" cy="342900"/>
            <a:chOff x="0" y="0"/>
            <a:chExt cx="109728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9728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NOT SOLVED YET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5816" y="2571464"/>
            <a:ext cx="9546907" cy="1029272"/>
            <a:chOff x="0" y="0"/>
            <a:chExt cx="12729210" cy="13723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29210" cy="1372362"/>
            </a:xfrm>
            <a:custGeom>
              <a:avLst/>
              <a:gdLst/>
              <a:ahLst/>
              <a:cxnLst/>
              <a:rect r="r" b="b" t="t" l="l"/>
              <a:pathLst>
                <a:path h="1372362" w="1272921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2580874" y="0"/>
                  </a:lnTo>
                  <a:cubicBezTo>
                    <a:pt x="12662789" y="0"/>
                    <a:pt x="12729210" y="66421"/>
                    <a:pt x="12729210" y="148336"/>
                  </a:cubicBezTo>
                  <a:lnTo>
                    <a:pt x="12729210" y="1224026"/>
                  </a:lnTo>
                  <a:cubicBezTo>
                    <a:pt x="12729210" y="1305941"/>
                    <a:pt x="12662789" y="1372362"/>
                    <a:pt x="12580874" y="1372362"/>
                  </a:cubicBezTo>
                  <a:lnTo>
                    <a:pt x="148336" y="1372362"/>
                  </a:lnTo>
                  <a:cubicBezTo>
                    <a:pt x="66421" y="1372362"/>
                    <a:pt x="0" y="1305941"/>
                    <a:pt x="0" y="12240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13435" y="2678811"/>
            <a:ext cx="115062" cy="814578"/>
            <a:chOff x="0" y="0"/>
            <a:chExt cx="153416" cy="10861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416" cy="1086104"/>
            </a:xfrm>
            <a:custGeom>
              <a:avLst/>
              <a:gdLst/>
              <a:ahLst/>
              <a:cxnLst/>
              <a:rect r="r" b="b" t="t" l="l"/>
              <a:pathLst>
                <a:path h="1086104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860" y="2674620"/>
            <a:ext cx="8983980" cy="384048"/>
            <a:chOff x="0" y="0"/>
            <a:chExt cx="1197864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7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5810" r="0" b="-4058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19786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Small gold-label set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65860" y="3053334"/>
            <a:ext cx="89839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150 held-out headlines (29 relevant): relevance F1 95% CI 0.22–0.54. Directional, not definitive.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5816" y="3723608"/>
            <a:ext cx="9546907" cy="1029272"/>
            <a:chOff x="0" y="0"/>
            <a:chExt cx="12729210" cy="13723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29210" cy="1372362"/>
            </a:xfrm>
            <a:custGeom>
              <a:avLst/>
              <a:gdLst/>
              <a:ahLst/>
              <a:cxnLst/>
              <a:rect r="r" b="b" t="t" l="l"/>
              <a:pathLst>
                <a:path h="1372362" w="1272921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2580874" y="0"/>
                  </a:lnTo>
                  <a:cubicBezTo>
                    <a:pt x="12662789" y="0"/>
                    <a:pt x="12729210" y="66421"/>
                    <a:pt x="12729210" y="148336"/>
                  </a:cubicBezTo>
                  <a:lnTo>
                    <a:pt x="12729210" y="1224026"/>
                  </a:lnTo>
                  <a:cubicBezTo>
                    <a:pt x="12729210" y="1305941"/>
                    <a:pt x="12662789" y="1372362"/>
                    <a:pt x="12580874" y="1372362"/>
                  </a:cubicBezTo>
                  <a:lnTo>
                    <a:pt x="148336" y="1372362"/>
                  </a:lnTo>
                  <a:cubicBezTo>
                    <a:pt x="66421" y="1372362"/>
                    <a:pt x="0" y="1305941"/>
                    <a:pt x="0" y="12240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13435" y="3830955"/>
            <a:ext cx="115062" cy="814578"/>
            <a:chOff x="0" y="0"/>
            <a:chExt cx="153416" cy="10861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3416" cy="1086104"/>
            </a:xfrm>
            <a:custGeom>
              <a:avLst/>
              <a:gdLst/>
              <a:ahLst/>
              <a:cxnLst/>
              <a:rect r="r" b="b" t="t" l="l"/>
              <a:pathLst>
                <a:path h="1086104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C8102E"/>
            </a:solidFill>
            <a:ln w="1905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65860" y="3826764"/>
            <a:ext cx="8983980" cy="384048"/>
            <a:chOff x="0" y="0"/>
            <a:chExt cx="1197864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7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5810" r="0" b="-40581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19786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Learned event classifier trails rules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65860" y="4205478"/>
            <a:ext cx="89839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Macro-F1 0.32 vs 0.47 held-out, so rule overrides stay in the decision.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15816" y="4875752"/>
            <a:ext cx="9546907" cy="1029272"/>
            <a:chOff x="0" y="0"/>
            <a:chExt cx="12729210" cy="13723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729210" cy="1372362"/>
            </a:xfrm>
            <a:custGeom>
              <a:avLst/>
              <a:gdLst/>
              <a:ahLst/>
              <a:cxnLst/>
              <a:rect r="r" b="b" t="t" l="l"/>
              <a:pathLst>
                <a:path h="1372362" w="1272921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2580874" y="0"/>
                  </a:lnTo>
                  <a:cubicBezTo>
                    <a:pt x="12662789" y="0"/>
                    <a:pt x="12729210" y="66421"/>
                    <a:pt x="12729210" y="148336"/>
                  </a:cubicBezTo>
                  <a:lnTo>
                    <a:pt x="12729210" y="1224026"/>
                  </a:lnTo>
                  <a:cubicBezTo>
                    <a:pt x="12729210" y="1305941"/>
                    <a:pt x="12662789" y="1372362"/>
                    <a:pt x="12580874" y="1372362"/>
                  </a:cubicBezTo>
                  <a:lnTo>
                    <a:pt x="148336" y="1372362"/>
                  </a:lnTo>
                  <a:cubicBezTo>
                    <a:pt x="66421" y="1372362"/>
                    <a:pt x="0" y="1305941"/>
                    <a:pt x="0" y="12240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13435" y="4983099"/>
            <a:ext cx="115062" cy="814578"/>
            <a:chOff x="0" y="0"/>
            <a:chExt cx="153416" cy="10861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416" cy="1086104"/>
            </a:xfrm>
            <a:custGeom>
              <a:avLst/>
              <a:gdLst/>
              <a:ahLst/>
              <a:cxnLst/>
              <a:rect r="r" b="b" t="t" l="l"/>
              <a:pathLst>
                <a:path h="1086104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B7791F"/>
            </a:solidFill>
            <a:ln w="19050" cap="sq">
              <a:solidFill>
                <a:srgbClr val="B7791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4978908"/>
            <a:ext cx="8983980" cy="384048"/>
            <a:chOff x="0" y="0"/>
            <a:chExt cx="11978640" cy="5120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97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5810" r="0" b="-40581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9786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Modest impact-model lift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65860" y="5357622"/>
            <a:ext cx="89839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MAE 0.0187 vs 0.0195 baseline, Spearman 0.33; 8-K events skew to “Other”.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15816" y="6027896"/>
            <a:ext cx="9546907" cy="1029272"/>
            <a:chOff x="0" y="0"/>
            <a:chExt cx="12729210" cy="13723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729210" cy="1372362"/>
            </a:xfrm>
            <a:custGeom>
              <a:avLst/>
              <a:gdLst/>
              <a:ahLst/>
              <a:cxnLst/>
              <a:rect r="r" b="b" t="t" l="l"/>
              <a:pathLst>
                <a:path h="1372362" w="1272921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2580874" y="0"/>
                  </a:lnTo>
                  <a:cubicBezTo>
                    <a:pt x="12662789" y="0"/>
                    <a:pt x="12729210" y="66421"/>
                    <a:pt x="12729210" y="148336"/>
                  </a:cubicBezTo>
                  <a:lnTo>
                    <a:pt x="12729210" y="1224026"/>
                  </a:lnTo>
                  <a:cubicBezTo>
                    <a:pt x="12729210" y="1305941"/>
                    <a:pt x="12662789" y="1372362"/>
                    <a:pt x="12580874" y="1372362"/>
                  </a:cubicBezTo>
                  <a:lnTo>
                    <a:pt x="148336" y="1372362"/>
                  </a:lnTo>
                  <a:cubicBezTo>
                    <a:pt x="66421" y="1372362"/>
                    <a:pt x="0" y="1305941"/>
                    <a:pt x="0" y="12240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13435" y="6135243"/>
            <a:ext cx="115062" cy="814578"/>
            <a:chOff x="0" y="0"/>
            <a:chExt cx="153416" cy="10861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3416" cy="1086104"/>
            </a:xfrm>
            <a:custGeom>
              <a:avLst/>
              <a:gdLst/>
              <a:ahLst/>
              <a:cxnLst/>
              <a:rect r="r" b="b" t="t" l="l"/>
              <a:pathLst>
                <a:path h="1086104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B7791F"/>
            </a:solidFill>
            <a:ln w="19050" cap="sq">
              <a:solidFill>
                <a:srgbClr val="B7791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65860" y="6131052"/>
            <a:ext cx="8983980" cy="384048"/>
            <a:chOff x="0" y="0"/>
            <a:chExt cx="11978640" cy="5120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97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5810" r="0" b="-4058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19786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Synthetic book, illustrative migration matrix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165860" y="6509766"/>
            <a:ext cx="89839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The wholesale portfolio is synthetic and rating migration is a documented assumption.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15816" y="7180040"/>
            <a:ext cx="9546907" cy="1029272"/>
            <a:chOff x="0" y="0"/>
            <a:chExt cx="12729210" cy="137236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729210" cy="1372362"/>
            </a:xfrm>
            <a:custGeom>
              <a:avLst/>
              <a:gdLst/>
              <a:ahLst/>
              <a:cxnLst/>
              <a:rect r="r" b="b" t="t" l="l"/>
              <a:pathLst>
                <a:path h="1372362" w="1272921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2580874" y="0"/>
                  </a:lnTo>
                  <a:cubicBezTo>
                    <a:pt x="12662789" y="0"/>
                    <a:pt x="12729210" y="66421"/>
                    <a:pt x="12729210" y="148336"/>
                  </a:cubicBezTo>
                  <a:lnTo>
                    <a:pt x="12729210" y="1224026"/>
                  </a:lnTo>
                  <a:cubicBezTo>
                    <a:pt x="12729210" y="1305941"/>
                    <a:pt x="12662789" y="1372362"/>
                    <a:pt x="12580874" y="1372362"/>
                  </a:cubicBezTo>
                  <a:lnTo>
                    <a:pt x="148336" y="1372362"/>
                  </a:lnTo>
                  <a:cubicBezTo>
                    <a:pt x="66421" y="1372362"/>
                    <a:pt x="0" y="1305941"/>
                    <a:pt x="0" y="12240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CE3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13435" y="7287387"/>
            <a:ext cx="115062" cy="814578"/>
            <a:chOff x="0" y="0"/>
            <a:chExt cx="153416" cy="10861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3416" cy="1086104"/>
            </a:xfrm>
            <a:custGeom>
              <a:avLst/>
              <a:gdLst/>
              <a:ahLst/>
              <a:cxnLst/>
              <a:rect r="r" b="b" t="t" l="l"/>
              <a:pathLst>
                <a:path h="1086104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B7791F"/>
            </a:solidFill>
            <a:ln w="19050" cap="sq">
              <a:solidFill>
                <a:srgbClr val="B7791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65860" y="7283196"/>
            <a:ext cx="8983980" cy="384048"/>
            <a:chOff x="0" y="0"/>
            <a:chExt cx="11978640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97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5810" r="0" b="-4058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19786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Live connectors not exercised in the build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65860" y="7661910"/>
            <a:ext cx="89839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Yahoo, FRED, SEC and GDELT code paths exist; the demo runs on replay and synthetic data.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972800" y="2084832"/>
            <a:ext cx="5486400" cy="342900"/>
            <a:chOff x="0" y="0"/>
            <a:chExt cx="7315200" cy="457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73152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90 DAYS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5371740">
            <a:off x="9040292" y="5168265"/>
            <a:ext cx="4633112" cy="0"/>
          </a:xfrm>
          <a:prstGeom prst="line">
            <a:avLst/>
          </a:prstGeom>
          <a:ln cap="rnd" w="19050">
            <a:solidFill>
              <a:srgbClr val="D9DC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11090910" y="2861310"/>
            <a:ext cx="531876" cy="531876"/>
            <a:chOff x="0" y="0"/>
            <a:chExt cx="709168" cy="7091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9168" cy="709168"/>
            </a:xfrm>
            <a:custGeom>
              <a:avLst/>
              <a:gdLst/>
              <a:ahLst/>
              <a:cxnLst/>
              <a:rect r="r" b="b" t="t" l="l"/>
              <a:pathLst>
                <a:path h="709168" w="709168">
                  <a:moveTo>
                    <a:pt x="0" y="354584"/>
                  </a:moveTo>
                  <a:cubicBezTo>
                    <a:pt x="0" y="158750"/>
                    <a:pt x="158750" y="0"/>
                    <a:pt x="354584" y="0"/>
                  </a:cubicBezTo>
                  <a:cubicBezTo>
                    <a:pt x="550418" y="0"/>
                    <a:pt x="709168" y="158750"/>
                    <a:pt x="709168" y="354584"/>
                  </a:cubicBezTo>
                  <a:cubicBezTo>
                    <a:pt x="709168" y="550418"/>
                    <a:pt x="550418" y="709168"/>
                    <a:pt x="354584" y="709168"/>
                  </a:cubicBezTo>
                  <a:cubicBezTo>
                    <a:pt x="158750" y="709168"/>
                    <a:pt x="0" y="550418"/>
                    <a:pt x="0" y="354584"/>
                  </a:cubicBezTo>
                  <a:close/>
                </a:path>
              </a:pathLst>
            </a:custGeom>
            <a:solidFill>
              <a:srgbClr val="C8102E"/>
            </a:solidFill>
            <a:ln w="381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1932920" y="2715768"/>
            <a:ext cx="5349240" cy="411480"/>
            <a:chOff x="0" y="0"/>
            <a:chExt cx="713232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7132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Month 1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1932920" y="3126105"/>
            <a:ext cx="54864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Label 1,000+ headlines; recalibrate relevance and event models.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090910" y="4397502"/>
            <a:ext cx="531876" cy="531876"/>
            <a:chOff x="0" y="0"/>
            <a:chExt cx="709168" cy="7091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09168" cy="709168"/>
            </a:xfrm>
            <a:custGeom>
              <a:avLst/>
              <a:gdLst/>
              <a:ahLst/>
              <a:cxnLst/>
              <a:rect r="r" b="b" t="t" l="l"/>
              <a:pathLst>
                <a:path h="709168" w="709168">
                  <a:moveTo>
                    <a:pt x="0" y="354584"/>
                  </a:moveTo>
                  <a:cubicBezTo>
                    <a:pt x="0" y="158750"/>
                    <a:pt x="158750" y="0"/>
                    <a:pt x="354584" y="0"/>
                  </a:cubicBezTo>
                  <a:cubicBezTo>
                    <a:pt x="550418" y="0"/>
                    <a:pt x="709168" y="158750"/>
                    <a:pt x="709168" y="354584"/>
                  </a:cubicBezTo>
                  <a:cubicBezTo>
                    <a:pt x="709168" y="550418"/>
                    <a:pt x="550418" y="709168"/>
                    <a:pt x="354584" y="709168"/>
                  </a:cubicBezTo>
                  <a:cubicBezTo>
                    <a:pt x="158750" y="709168"/>
                    <a:pt x="0" y="550418"/>
                    <a:pt x="0" y="35458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932920" y="4251960"/>
            <a:ext cx="5349240" cy="411480"/>
            <a:chOff x="0" y="0"/>
            <a:chExt cx="713232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7132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Month 2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1932920" y="4662297"/>
            <a:ext cx="54864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Verify live feeds; run the PSI drift monitor with alerts.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1090910" y="5933694"/>
            <a:ext cx="531876" cy="531876"/>
            <a:chOff x="0" y="0"/>
            <a:chExt cx="709168" cy="7091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09168" cy="709168"/>
            </a:xfrm>
            <a:custGeom>
              <a:avLst/>
              <a:gdLst/>
              <a:ahLst/>
              <a:cxnLst/>
              <a:rect r="r" b="b" t="t" l="l"/>
              <a:pathLst>
                <a:path h="709168" w="709168">
                  <a:moveTo>
                    <a:pt x="0" y="354584"/>
                  </a:moveTo>
                  <a:cubicBezTo>
                    <a:pt x="0" y="158750"/>
                    <a:pt x="158750" y="0"/>
                    <a:pt x="354584" y="0"/>
                  </a:cubicBezTo>
                  <a:cubicBezTo>
                    <a:pt x="550418" y="0"/>
                    <a:pt x="709168" y="158750"/>
                    <a:pt x="709168" y="354584"/>
                  </a:cubicBezTo>
                  <a:cubicBezTo>
                    <a:pt x="709168" y="550418"/>
                    <a:pt x="550418" y="709168"/>
                    <a:pt x="354584" y="709168"/>
                  </a:cubicBezTo>
                  <a:cubicBezTo>
                    <a:pt x="158750" y="709168"/>
                    <a:pt x="0" y="550418"/>
                    <a:pt x="0" y="35458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932920" y="5788152"/>
            <a:ext cx="5349240" cy="411480"/>
            <a:chOff x="0" y="0"/>
            <a:chExt cx="713232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7132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Month 3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1932920" y="6198489"/>
            <a:ext cx="54864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Real rating-transition data; SciPy SLSQP worst-shock solver.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1090910" y="7469886"/>
            <a:ext cx="531876" cy="531876"/>
            <a:chOff x="0" y="0"/>
            <a:chExt cx="709168" cy="70916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09168" cy="709168"/>
            </a:xfrm>
            <a:custGeom>
              <a:avLst/>
              <a:gdLst/>
              <a:ahLst/>
              <a:cxnLst/>
              <a:rect r="r" b="b" t="t" l="l"/>
              <a:pathLst>
                <a:path h="709168" w="709168">
                  <a:moveTo>
                    <a:pt x="0" y="354584"/>
                  </a:moveTo>
                  <a:cubicBezTo>
                    <a:pt x="0" y="158750"/>
                    <a:pt x="158750" y="0"/>
                    <a:pt x="354584" y="0"/>
                  </a:cubicBezTo>
                  <a:cubicBezTo>
                    <a:pt x="550418" y="0"/>
                    <a:pt x="709168" y="158750"/>
                    <a:pt x="709168" y="354584"/>
                  </a:cubicBezTo>
                  <a:cubicBezTo>
                    <a:pt x="709168" y="550418"/>
                    <a:pt x="550418" y="709168"/>
                    <a:pt x="354584" y="709168"/>
                  </a:cubicBezTo>
                  <a:cubicBezTo>
                    <a:pt x="158750" y="709168"/>
                    <a:pt x="0" y="550418"/>
                    <a:pt x="0" y="35458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8102E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1932920" y="7324344"/>
            <a:ext cx="5349240" cy="411480"/>
            <a:chOff x="0" y="0"/>
            <a:chExt cx="713232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7132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02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Beyond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1932920" y="7734681"/>
            <a:ext cx="54864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Grounded LLM analyst narrative with a citation guard; multi-tenant auth.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813435" y="8494395"/>
            <a:ext cx="16656558" cy="1006602"/>
            <a:chOff x="0" y="0"/>
            <a:chExt cx="22208744" cy="134213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208744" cy="1342136"/>
            </a:xfrm>
            <a:custGeom>
              <a:avLst/>
              <a:gdLst/>
              <a:ahLst/>
              <a:cxnLst/>
              <a:rect r="r" b="b" t="t" l="l"/>
              <a:pathLst>
                <a:path h="1342136" w="22208744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22059646" y="0"/>
                  </a:lnTo>
                  <a:cubicBezTo>
                    <a:pt x="22141942" y="0"/>
                    <a:pt x="22208744" y="66802"/>
                    <a:pt x="22208744" y="149098"/>
                  </a:cubicBezTo>
                  <a:lnTo>
                    <a:pt x="22208744" y="1193038"/>
                  </a:lnTo>
                  <a:cubicBezTo>
                    <a:pt x="22208744" y="1275334"/>
                    <a:pt x="22141942" y="1342136"/>
                    <a:pt x="22059646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0B1020"/>
            </a:solidFill>
            <a:ln w="19050" cap="sq">
              <a:solidFill>
                <a:srgbClr val="0B1020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65860" y="8503920"/>
            <a:ext cx="15979140" cy="987552"/>
            <a:chOff x="0" y="0"/>
            <a:chExt cx="21305520" cy="131673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305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305520">
                  <a:moveTo>
                    <a:pt x="0" y="0"/>
                  </a:moveTo>
                  <a:lnTo>
                    <a:pt x="21305520" y="0"/>
                  </a:lnTo>
                  <a:lnTo>
                    <a:pt x="21305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278" r="0" b="-26527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130552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8D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Responsible use  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Outputs are risk analytics for demonstration, not investment advice. Built with AI assistance (Claude); data choices, validation and claims are the author's. Public and synthetic data only.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6824960" y="9782937"/>
            <a:ext cx="544068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B6475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DAHYFxgjGdg</dc:identifier>
  <dcterms:modified xsi:type="dcterms:W3CDTF">2011-08-01T06:04:30Z</dcterms:modified>
  <cp:revision>1</cp:revision>
  <dc:title>ChaitenyaChand_IGDTUW.pptx</dc:title>
</cp:coreProperties>
</file>